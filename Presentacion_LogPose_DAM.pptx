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4400" b="0" u="none" strike="noStrike">
                <a:solidFill>
                  <a:schemeClr val="dk1"/>
                </a:solidFill>
                <a:effectLst/>
                <a:uFillTx/>
                <a:latin typeface="Calibri"/>
              </a:rPr>
              <a:t>Pulse para desplazar la diapositiva</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mul" sz="2000" b="0" u="none" strike="noStrike">
                <a:solidFill>
                  <a:srgbClr val="000000"/>
                </a:solidFill>
                <a:effectLst/>
                <a:uFillTx/>
                <a:latin typeface="Arial"/>
              </a:rPr>
              <a:t>Pulse para editar el formato de las notas</a:t>
            </a:r>
            <a:endParaRPr lang="mul" sz="2000" b="0" u="none" strike="noStrike">
              <a:solidFill>
                <a:srgbClr val="000000"/>
              </a:solidFill>
              <a:effectLst/>
              <a:uFillTx/>
              <a:latin typeface="Arial"/>
            </a:endParaRPr>
          </a:p>
        </p:txBody>
      </p:sp>
      <p:sp>
        <p:nvSpPr>
          <p:cNvPr id="14"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mul" sz="1400" b="0" u="none" strike="noStrike">
                <a:solidFill>
                  <a:srgbClr val="000000"/>
                </a:solidFill>
                <a:effectLst/>
                <a:uFillTx/>
                <a:latin typeface="Times New Roman"/>
              </a:rPr>
              <a:t>&lt;cabecera&gt;</a:t>
            </a:r>
            <a:endParaRPr lang="mul" sz="1400" b="0" u="none" strike="noStrike">
              <a:solidFill>
                <a:srgbClr val="000000"/>
              </a:solidFill>
              <a:effectLst/>
              <a:uFillTx/>
              <a:latin typeface="Times New Roman"/>
            </a:endParaRPr>
          </a:p>
        </p:txBody>
      </p:sp>
      <p:sp>
        <p:nvSpPr>
          <p:cNvPr id="15"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mul" sz="1400" b="0" u="none" strike="noStrike">
                <a:solidFill>
                  <a:srgbClr val="000000"/>
                </a:solidFill>
                <a:effectLst/>
                <a:uFillTx/>
                <a:latin typeface="Times New Roman"/>
              </a:defRPr>
            </a:lvl1pPr>
          </a:lstStyle>
          <a:p>
            <a:pPr indent="0" algn="r">
              <a:buNone/>
            </a:pPr>
            <a:r>
              <a:rPr lang="mul" sz="1400" b="0" u="none" strike="noStrike">
                <a:solidFill>
                  <a:srgbClr val="000000"/>
                </a:solidFill>
                <a:effectLst/>
                <a:uFillTx/>
                <a:latin typeface="Times New Roman"/>
              </a:rPr>
              <a:t>&lt;fecha/hora&gt;</a:t>
            </a:r>
            <a:endParaRPr lang="mul" sz="1400" b="0" u="none" strike="noStrike">
              <a:solidFill>
                <a:srgbClr val="000000"/>
              </a:solidFill>
              <a:effectLst/>
              <a:uFillTx/>
              <a:latin typeface="Times New Roman"/>
            </a:endParaRPr>
          </a:p>
        </p:txBody>
      </p:sp>
      <p:sp>
        <p:nvSpPr>
          <p:cNvPr id="16"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lgn="l">
              <a:buNone/>
              <a:defRPr lang="mul" sz="1400" b="0" u="none" strike="noStrike">
                <a:solidFill>
                  <a:srgbClr val="000000"/>
                </a:solidFill>
                <a:effectLst/>
                <a:uFillTx/>
                <a:latin typeface="Times New Roman"/>
              </a:defRPr>
            </a:lvl1pPr>
          </a:lstStyle>
          <a:p>
            <a:pPr indent="0" algn="l">
              <a:buNone/>
            </a:pPr>
            <a:r>
              <a:rPr lang="mul" sz="1400" b="0" u="none" strike="noStrike">
                <a:solidFill>
                  <a:srgbClr val="000000"/>
                </a:solidFill>
                <a:effectLst/>
                <a:uFillTx/>
                <a:latin typeface="Times New Roman"/>
              </a:rPr>
              <a:t>&lt;pie de página&gt;</a:t>
            </a:r>
            <a:endParaRPr lang="mul" sz="1400" b="0" u="none" strike="noStrike">
              <a:solidFill>
                <a:srgbClr val="000000"/>
              </a:solidFill>
              <a:effectLst/>
              <a:uFillTx/>
              <a:latin typeface="Times New Roman"/>
            </a:endParaRPr>
          </a:p>
        </p:txBody>
      </p:sp>
      <p:sp>
        <p:nvSpPr>
          <p:cNvPr id="17"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mul" sz="1400" b="0" u="none" strike="noStrike">
                <a:solidFill>
                  <a:srgbClr val="000000"/>
                </a:solidFill>
                <a:effectLst/>
                <a:uFillTx/>
                <a:latin typeface="Times New Roman"/>
              </a:defRPr>
            </a:lvl1pPr>
          </a:lstStyle>
          <a:p>
            <a:pPr indent="0" algn="r">
              <a:buNone/>
            </a:pPr>
            <a:fld id="{3DF59153-40EF-48F6-B461-EC0A77F56595}" type="slidenum">
              <a:rPr lang="mul" sz="1400" b="0" u="none" strike="noStrike">
                <a:solidFill>
                  <a:srgbClr val="000000"/>
                </a:solidFill>
                <a:effectLst/>
                <a:uFillTx/>
                <a:latin typeface="Times New Roman"/>
              </a:rPr>
              <a:t>&lt;número&gt;</a:t>
            </a:fld>
            <a:endParaRPr lang="mu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216000" y="812520"/>
            <a:ext cx="7126200" cy="4007880"/>
          </a:xfrm>
          <a:prstGeom prst="rect">
            <a:avLst/>
          </a:prstGeom>
          <a:ln w="0">
            <a:noFill/>
          </a:ln>
        </p:spPr>
      </p:sp>
      <p:sp>
        <p:nvSpPr>
          <p:cNvPr id="283"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Buenos dias / tardes. Mi nombre es [nombre] y os presento el Proyecto de Fin de Curso del Ciclo Superior de Desarrollo de Aplicaciones Multiplataforma.El proyecto se llama **Cronicas del Log Pose: El Despertar del Mar**, un videojuego indie desarrollado bajo el paraguas de nuestra empresa **Raftel Digital Studios S.L.**" </a:t>
            </a:r>
            <a:endParaRPr lang="mul" sz="1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216000" y="812520"/>
            <a:ext cx="7126200" cy="4007880"/>
          </a:xfrm>
          <a:prstGeom prst="rect">
            <a:avLst/>
          </a:prstGeom>
          <a:ln w="0">
            <a:noFill/>
          </a:ln>
        </p:spPr>
      </p:sp>
      <p:sp>
        <p:nvSpPr>
          <p:cNvPr id="285"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Raftel Digital Studios es un estudio independiente de videojuegos con sede en Córdoba, Andalucía. Estamos constituidos como Sociedad de Responsabilidad Limitada bajo el CNAE cincuenta y ocho veintiuno.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Nuestra misión es transformar mecánicas complejas en experiencias accesibles. Trabajamos con propiedad intelectual cien por cien propia, sin depender de licencias de terceros, y desarrollamos para tres plataformas: PC, Android e iOS.</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equipo está formado por cuatro socios trabajadores, todos dados de alta en el RETA: el Director y Game Designer, un Desarrollador Multiplataforma Senior, un Artista 2D y la Responsable de QA y Marketing. Funcionamos con una estructura horizontal, en la que cada área cuenta con plena autonomía técnica.</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216000" y="812520"/>
            <a:ext cx="7126200" cy="4007880"/>
          </a:xfrm>
          <a:prstGeom prst="rect">
            <a:avLst/>
          </a:prstGeom>
          <a:ln w="0">
            <a:noFill/>
          </a:ln>
        </p:spPr>
      </p:sp>
      <p:sp>
        <p:nvSpPr>
          <p:cNvPr id="287"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mercado de los roguelike deckbuilders está valorado en tres mil ochocientos millones de dólares para el año dos mil veinticinco, con un crecimiento anual compuesto del diez coma ocho por ciento. El segmento móvil crece todavía más rápido, a un trece coma nueve por ciento. Slay the Spire ha superado los diez millones de copias vendidas, lo que demuestra que el género tiene una demanda real y sostenida.</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análisis DAFO que veis aquí refleja nuestro punto de partida. Nuestra mayor fortaleza es la capacitación técnica y una estructura de costes reducida. Y la oportunidad es clara: no existe ningún juego de cartas táctico con una temática pirata profunda y libre de licencias prohibitivas. Ese hueco es el nuestro.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 </a:t>
            </a:r>
            <a:endParaRPr lang="mul" sz="1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216000" y="812520"/>
            <a:ext cx="7126200" cy="4007880"/>
          </a:xfrm>
          <a:prstGeom prst="rect">
            <a:avLst/>
          </a:prstGeom>
          <a:ln w="0">
            <a:noFill/>
          </a:ln>
        </p:spPr>
      </p:sp>
      <p:sp>
        <p:nvSpPr>
          <p:cNvPr id="289"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juego es un **roguelike deckbuilder con generacion procedimental** disponible en PC y movil. El jugador asume el rol de un capitan pirata que navega por cuatro actos: Los Cuatro Mares, La Gran Corriente, El Nuevo Mundo y Las Aguas del Fin.</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sistema de combate se articula mediante cuatro Esencias del Oceano — Furia, Coloso, Deriva y Dominacion. La generacion procedimental garantiza sesiones de 30 a 45 minutos con alta rejugabilidad: ninguna partida es igual."</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216000" y="812520"/>
            <a:ext cx="7126200" cy="4007880"/>
          </a:xfrm>
          <a:prstGeom prst="rect">
            <a:avLst/>
          </a:prstGeom>
          <a:ln w="0">
            <a:noFill/>
          </a:ln>
        </p:spPr>
      </p:sp>
      <p:sp>
        <p:nvSpPr>
          <p:cNvPr id="29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diferenciador real son dos sistemas propios. El **Sistema Marea Dinamica** cambia cada turno entre cinco estados — Calma, Tormenta, Niebla, Corriente y Luz Lunar — modificando en tiempo real el coste y la eficacia de las cartas. No puedes jugar igual en todos los turnos. La **Gestion de Tripulacion** genera sinergias unicas: cada tripulante activa habilidades bajo condiciones especificas del juego.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Frente a competidores como Slay the Spire II o Balatro, nuestra ventaja es tematica nautica de IP propia mas interfaz tactil optimizada para movil desde el dia uno."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216000" y="812520"/>
            <a:ext cx="7126200" cy="4007880"/>
          </a:xfrm>
          <a:prstGeom prst="rect">
            <a:avLst/>
          </a:prstGeom>
          <a:ln w="0">
            <a:noFill/>
          </a:ln>
        </p:spPr>
      </p:sp>
      <p:sp>
        <p:nvSpPr>
          <p:cNvPr id="293"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"Tecnicamente, el juego se desarrolla con **Godot Engine 4.6.2** usando GDScript, SQLite para persistencia y Git con GitFlow para el control de versiones. La metodologia es **Scrum**, con sprints de dos semanas y Daily Scrum de 15 minutos, gestion de incidencias centralizada en Jira.</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El proyecto se divide en cinco fases: dos meses de preproduccion, tres de prototipo funcional, seis de Alpha, tres de Beta y el lanzamiento. La infraestructura consta de dos workstations de alto rendimiento y seis dispositivos moviles de prueba para cubrir gama media y alta." </a:t>
            </a:r>
            <a:endParaRPr lang="mul" sz="1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216000" y="812520"/>
            <a:ext cx="7126200" cy="4007880"/>
          </a:xfrm>
          <a:prstGeom prst="rect">
            <a:avLst/>
          </a:prstGeom>
          <a:ln w="0">
            <a:noFill/>
          </a:ln>
        </p:spPr>
      </p:sp>
      <p:sp>
        <p:nvSpPr>
          <p:cNvPr id="295"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Nuestros ingresos provienen de cuatro vías. La primera es la venta directa en Steam, a doce euros, que nos deja un ingreso neto de unos ocho euros con cuarenta por unidad. La segunda es la venta en móvil, a cuatro euros con noventa y nueve. La tercera son los DLC y expansiones, que llegarán a partir del segundo año. Y la cuarta son los cosméticos opcionales, con precios de entre noventa y nueve céntimos y dos euros con noventa y nueve.</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En conjunto, el ingreso neto medio ponderado es de seis euros con cincuenta por cada unidad vendida.</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Nuestro público objetivo son jugadores de dieciocho a treinta y cinco años en Europa, Norteamérica y Asia-Pacífico, a los que llegaremos además a través de microinfluencers y streamers del sector indie.</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216000" y="812520"/>
            <a:ext cx="7126200" cy="4007880"/>
          </a:xfrm>
          <a:prstGeom prst="rect">
            <a:avLst/>
          </a:prstGeom>
          <a:ln w="0">
            <a:noFill/>
          </a:ln>
        </p:spPr>
      </p:sp>
      <p:sp>
        <p:nvSpPr>
          <p:cNvPr id="297"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mul" sz="1000" b="0" u="none" strike="noStrike">
                <a:solidFill>
                  <a:srgbClr val="000000"/>
                </a:solidFill>
                <a:effectLst/>
                <a:uFillTx/>
                <a:latin typeface="Arial"/>
              </a:rPr>
              <a:t> </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mul" sz="1000" b="0" u="none" strike="noStrike">
                <a:solidFill>
                  <a:srgbClr val="000000"/>
                </a:solidFill>
                <a:effectLst/>
                <a:uFillTx/>
                <a:latin typeface="Arial"/>
              </a:rPr>
              <a:t>Necesitamos una inversión inicial de treinta mil euros: dieciocho mil para hardware, tres mil quinientos en software, dos mil quinientos para la constitución de la empresa y seis mil de fondo de maniobra.</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mul" sz="1000" b="0" u="none" strike="noStrike">
                <a:solidFill>
                  <a:srgbClr val="000000"/>
                </a:solidFill>
                <a:effectLst/>
                <a:uFillTx/>
                <a:latin typeface="Arial"/>
              </a:rPr>
              <a:t>Los costes fijos rondan los ciento sesenta y un mil euros al año, y la mayor parte es el personal: entre los cuatro sueldos y la seguridad social, unos ciento treinta y seis mil euros.</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mul" sz="1000" b="0" u="none" strike="noStrike">
                <a:solidFill>
                  <a:srgbClr val="000000"/>
                </a:solidFill>
                <a:effectLst/>
                <a:uFillTx/>
                <a:latin typeface="Arial"/>
              </a:rPr>
              <a:t>Como ganamos seis euros con cincuenta por cada unidad, necesitamos vender unas veinticinco mil unidades en el primer año para alcanzar el punto de equilibrio.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mul" sz="1000" b="0" u="none" strike="noStrike">
                <a:solidFill>
                  <a:srgbClr val="000000"/>
                </a:solidFill>
                <a:effectLst/>
                <a:uFillTx/>
                <a:latin typeface="Arial"/>
              </a:rPr>
              <a:t>Para financiarlo contamos con capital propio, las ayudas RETECH de la Junta de Andalucía, de hasta treinta mil euros, y las líneas ICO, de hasta cien mil.</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216000" y="812520"/>
            <a:ext cx="7126200" cy="4007880"/>
          </a:xfrm>
          <a:prstGeom prst="rect">
            <a:avLst/>
          </a:prstGeom>
          <a:ln w="0">
            <a:noFill/>
          </a:ln>
        </p:spPr>
      </p:sp>
      <p:sp>
        <p:nvSpPr>
          <p:cNvPr id="299"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Para cerrar: el mercado crece a un diez coma ocho por ciento anual, con espacio real para propuestas independientes.</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En el plano técnico, nuestros KPIs clave son mantener sesenta FPS estables en el noventa por ciento de las sesiones en dispositivos de gama media, y una cobertura de tests superior al ochenta por ciento. En el plano comercial, apuntamos a quince mil wishlists en Steam y a una retención del primer día por encima del treinta y cinco por ciento.</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En resumen: la propuesta es diferenciada y con IP propia, el equipo es multidisciplinar, la viabilidad financiera está demostrada con datos reales y contamos con respaldo institucional disponible. Es un proyecto ambicioso, pero los números y el contexto de mercado confirman que es realista y alcanzable.</a:t>
            </a:r>
            <a:endParaRPr lang="mul"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 </a:t>
            </a:r>
            <a:endParaRPr lang="mul" sz="1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216000" y="812520"/>
            <a:ext cx="7126200" cy="4007880"/>
          </a:xfrm>
          <a:prstGeom prst="rect">
            <a:avLst/>
          </a:prstGeom>
          <a:ln w="0">
            <a:noFill/>
          </a:ln>
        </p:spPr>
      </p:sp>
      <p:sp>
        <p:nvSpPr>
          <p:cNvPr id="30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s-ES" sz="1000" b="0" u="none" strike="noStrike">
                <a:solidFill>
                  <a:srgbClr val="000000"/>
                </a:solidFill>
                <a:effectLst/>
                <a:uFillTx/>
                <a:latin typeface="Arial"/>
              </a:rPr>
              <a:t>"Muchas gracias por vuestra atencion. Quedo a vuestra disposicion para cualquier pregunta.Si quereis seguir el desarrollo del juego podeis hacerlo en nuestro canal de YouTube **@LogPoseProject**." </a:t>
            </a:r>
            <a:endParaRPr lang="mul" sz="1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175320"/>
            <a:ext cx="8227800" cy="1341000"/>
          </a:xfrm>
          <a:prstGeom prst="rect">
            <a:avLst/>
          </a:prstGeom>
          <a:noFill/>
          <a:ln w="0">
            <a:noFill/>
          </a:ln>
        </p:spPr>
        <p:txBody>
          <a:bodyPr lIns="0" tIns="0" rIns="0" bIns="0" anchor="ctr">
            <a:spAutoFit/>
          </a:bodyPr>
          <a:lstStyle>
            <a:lvl1pPr indent="0" algn="l" defTabSz="457200">
              <a:lnSpc>
                <a:spcPct val="100000"/>
              </a:lnSpc>
              <a:buNone/>
              <a:tabLst>
                <a:tab pos="0" algn="l"/>
              </a:tabLst>
              <a:defRPr lang="en-US" sz="4400" b="0" u="none" strike="noStrike">
                <a:solidFill>
                  <a:schemeClr val="dk1"/>
                </a:solidFill>
                <a:effectLst/>
                <a:uFillTx/>
                <a:latin typeface="Calibri"/>
              </a:defRPr>
            </a:lvl1pPr>
          </a:lstStyle>
          <a:p>
            <a:pPr indent="0" algn="l" defTabSz="457200">
              <a:lnSpc>
                <a:spcPct val="100000"/>
              </a:lnSpc>
              <a:buNone/>
              <a:tabLst>
                <a:tab pos="0" algn="l"/>
              </a:tabLst>
            </a:pPr>
            <a:r>
              <a:rPr lang="en-US" sz="4400" b="0" u="none" strike="noStrike">
                <a:solidFill>
                  <a:schemeClr val="dk1"/>
                </a:solidFill>
                <a:effectLst/>
                <a:uFillTx/>
                <a:latin typeface="Calibri"/>
              </a:rPr>
              <a:t>Pulse para editar el formato del texto de título</a:t>
            </a:r>
            <a:endParaRPr lang="en-US" sz="4400" b="0" u="none" strike="noStrike">
              <a:solidFill>
                <a:schemeClr val="dk1"/>
              </a:solidFill>
              <a:effectLst/>
              <a:uFillTx/>
              <a:latin typeface="Calibri"/>
            </a:endParaRPr>
          </a:p>
        </p:txBody>
      </p:sp>
      <p:sp>
        <p:nvSpPr>
          <p:cNvPr id="3" name="PlaceHolder 2"/>
          <p:cNvSpPr>
            <a:spLocks noGrp="1"/>
          </p:cNvSpPr>
          <p:nvPr>
            <p:ph type="ftr" idx="1"/>
          </p:nvPr>
        </p:nvSpPr>
        <p:spPr>
          <a:xfrm>
            <a:off x="3124080" y="6356520"/>
            <a:ext cx="2893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mul" sz="1400" b="0" u="none" strike="noStrike">
                <a:solidFill>
                  <a:srgbClr val="000000"/>
                </a:solidFill>
                <a:effectLst/>
                <a:uFillTx/>
                <a:latin typeface="Times New Roman"/>
              </a:defRPr>
            </a:lvl1pPr>
          </a:lstStyle>
          <a:p>
            <a:pPr indent="0" algn="ctr">
              <a:lnSpc>
                <a:spcPct val="100000"/>
              </a:lnSpc>
              <a:buNone/>
              <a:tabLst>
                <a:tab pos="0" algn="l"/>
              </a:tabLst>
            </a:pPr>
            <a:r>
              <a:rPr lang="mul" sz="1400" b="0" u="none" strike="noStrike">
                <a:solidFill>
                  <a:srgbClr val="000000"/>
                </a:solidFill>
                <a:effectLst/>
                <a:uFillTx/>
                <a:latin typeface="Times New Roman"/>
              </a:rPr>
              <a:t>&lt;pie de página&gt;</a:t>
            </a:r>
            <a:endParaRPr lang="mul"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6553080" y="6356520"/>
            <a:ext cx="213192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AD933B4-5F2A-4856-8FA8-12D7443C186B}" type="slidenum">
              <a:rPr lang="en-US" sz="1200" b="0" u="none" strike="noStrike">
                <a:solidFill>
                  <a:schemeClr val="dk1">
                    <a:tint val="75000"/>
                  </a:schemeClr>
                </a:solidFill>
                <a:effectLst/>
                <a:uFillTx/>
                <a:latin typeface="Calibri"/>
              </a:rPr>
              <a:t>&lt;número&gt;</a:t>
            </a:fld>
            <a:endParaRPr lang="mul"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457200" y="6356520"/>
            <a:ext cx="2131920" cy="363240"/>
          </a:xfrm>
          <a:prstGeom prst="rect">
            <a:avLst/>
          </a:prstGeom>
          <a:noFill/>
          <a:ln w="0">
            <a:noFill/>
          </a:ln>
        </p:spPr>
        <p:txBody>
          <a:bodyPr lIns="91440" tIns="45720" rIns="91440" bIns="45720" anchor="ctr">
            <a:noAutofit/>
          </a:bodyPr>
          <a:lstStyle>
            <a:lvl1pPr indent="0" algn="l">
              <a:lnSpc>
                <a:spcPct val="100000"/>
              </a:lnSpc>
              <a:buNone/>
              <a:tabLst>
                <a:tab pos="0" algn="l"/>
              </a:tabLst>
              <a:defRPr lang="mul" sz="1400" b="0" u="none" strike="noStrike">
                <a:solidFill>
                  <a:srgbClr val="000000"/>
                </a:solidFill>
                <a:effectLst/>
                <a:uFillTx/>
                <a:latin typeface="Times New Roman"/>
              </a:defRPr>
            </a:lvl1pPr>
          </a:lstStyle>
          <a:p>
            <a:pPr indent="0" algn="l">
              <a:lnSpc>
                <a:spcPct val="100000"/>
              </a:lnSpc>
              <a:buNone/>
              <a:tabLst>
                <a:tab pos="0" algn="l"/>
              </a:tabLst>
            </a:pPr>
            <a:r>
              <a:rPr lang="mul" sz="1400" b="0" u="none" strike="noStrike">
                <a:solidFill>
                  <a:srgbClr val="000000"/>
                </a:solidFill>
                <a:effectLst/>
                <a:uFillTx/>
                <a:latin typeface="Times New Roman"/>
              </a:rPr>
              <a:t>&lt;fecha/hora&gt;</a:t>
            </a:r>
            <a:endParaRPr lang="mul" sz="14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Pulse para editar el formato de texto del esquema</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Segundo nivel del esquema</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Tercer nivel del esquema</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Cuarto nivel del esquema</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3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mul" sz="1400" b="0" u="none" strike="noStrike">
                <a:solidFill>
                  <a:srgbClr val="000000"/>
                </a:solidFill>
                <a:effectLst/>
                <a:uFillTx/>
                <a:latin typeface="Times New Roman"/>
              </a:defRPr>
            </a:lvl1pPr>
          </a:lstStyle>
          <a:p>
            <a:pPr indent="0" algn="ctr">
              <a:lnSpc>
                <a:spcPct val="100000"/>
              </a:lnSpc>
              <a:buNone/>
              <a:tabLst>
                <a:tab pos="0" algn="l"/>
              </a:tabLst>
            </a:pPr>
            <a:r>
              <a:rPr lang="mul" sz="1400" b="0" u="none" strike="noStrike">
                <a:solidFill>
                  <a:srgbClr val="000000"/>
                </a:solidFill>
                <a:effectLst/>
                <a:uFillTx/>
                <a:latin typeface="Times New Roman"/>
              </a:rPr>
              <a:t>&lt;pie de página&gt;</a:t>
            </a:r>
            <a:endParaRPr lang="mul" sz="1400" b="0" u="none" strike="noStrike">
              <a:solidFill>
                <a:srgbClr val="000000"/>
              </a:solidFill>
              <a:effectLst/>
              <a:uFillTx/>
              <a:latin typeface="Times New Roman"/>
            </a:endParaRPr>
          </a:p>
        </p:txBody>
      </p:sp>
      <p:sp>
        <p:nvSpPr>
          <p:cNvPr id="8" name="PlaceHolder 2"/>
          <p:cNvSpPr>
            <a:spLocks noGrp="1"/>
          </p:cNvSpPr>
          <p:nvPr>
            <p:ph type="sldNum" idx="5"/>
          </p:nvPr>
        </p:nvSpPr>
        <p:spPr>
          <a:xfrm>
            <a:off x="6553080" y="6356520"/>
            <a:ext cx="213192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159FC03-DB2C-4231-9C43-DA0BB9194110}" type="slidenum">
              <a:rPr lang="en-US" sz="1200" b="0" u="none" strike="noStrike">
                <a:solidFill>
                  <a:schemeClr val="dk1">
                    <a:tint val="75000"/>
                  </a:schemeClr>
                </a:solidFill>
                <a:effectLst/>
                <a:uFillTx/>
                <a:latin typeface="Calibri"/>
              </a:rPr>
              <a:t>&lt;número&gt;</a:t>
            </a:fld>
            <a:endParaRPr lang="mul" sz="1200" b="0" u="none" strike="noStrike">
              <a:solidFill>
                <a:srgbClr val="000000"/>
              </a:solidFill>
              <a:effectLst/>
              <a:uFillTx/>
              <a:latin typeface="Times New Roman"/>
            </a:endParaRPr>
          </a:p>
        </p:txBody>
      </p:sp>
      <p:sp>
        <p:nvSpPr>
          <p:cNvPr id="9" name="PlaceHolder 3"/>
          <p:cNvSpPr>
            <a:spLocks noGrp="1"/>
          </p:cNvSpPr>
          <p:nvPr>
            <p:ph type="dt" idx="6"/>
          </p:nvPr>
        </p:nvSpPr>
        <p:spPr>
          <a:xfrm>
            <a:off x="457200" y="6356520"/>
            <a:ext cx="2131920" cy="363240"/>
          </a:xfrm>
          <a:prstGeom prst="rect">
            <a:avLst/>
          </a:prstGeom>
          <a:noFill/>
          <a:ln w="0">
            <a:noFill/>
          </a:ln>
        </p:spPr>
        <p:txBody>
          <a:bodyPr lIns="91440" tIns="45720" rIns="91440" bIns="45720" anchor="ctr">
            <a:noAutofit/>
          </a:bodyPr>
          <a:lstStyle>
            <a:lvl1pPr indent="0" algn="l">
              <a:lnSpc>
                <a:spcPct val="100000"/>
              </a:lnSpc>
              <a:buNone/>
              <a:tabLst>
                <a:tab pos="0" algn="l"/>
              </a:tabLst>
              <a:defRPr lang="mul" sz="1400" b="0" u="none" strike="noStrike">
                <a:solidFill>
                  <a:srgbClr val="000000"/>
                </a:solidFill>
                <a:effectLst/>
                <a:uFillTx/>
                <a:latin typeface="Times New Roman"/>
              </a:defRPr>
            </a:lvl1pPr>
          </a:lstStyle>
          <a:p>
            <a:pPr indent="0" algn="l">
              <a:lnSpc>
                <a:spcPct val="100000"/>
              </a:lnSpc>
              <a:buNone/>
              <a:tabLst>
                <a:tab pos="0" algn="l"/>
              </a:tabLst>
            </a:pPr>
            <a:r>
              <a:rPr lang="mul" sz="1400" b="0" u="none" strike="noStrike">
                <a:solidFill>
                  <a:srgbClr val="000000"/>
                </a:solidFill>
                <a:effectLst/>
                <a:uFillTx/>
                <a:latin typeface="Times New Roman"/>
              </a:rPr>
              <a:t>&lt;fecha/hora&gt;</a:t>
            </a:r>
            <a:endParaRPr lang="mul" sz="1400" b="0" u="none" strike="noStrike">
              <a:solidFill>
                <a:srgbClr val="000000"/>
              </a:solidFill>
              <a:effectLst/>
              <a:uFillTx/>
              <a:latin typeface="Times New Roman"/>
            </a:endParaRPr>
          </a:p>
        </p:txBody>
      </p:sp>
      <p:sp>
        <p:nvSpPr>
          <p:cNvPr id="10" name="PlaceHolder 4"/>
          <p:cNvSpPr>
            <a:spLocks noGrp="1"/>
          </p:cNvSpPr>
          <p:nvPr>
            <p:ph type="title"/>
          </p:nvPr>
        </p:nvSpPr>
        <p:spPr>
          <a:xfrm>
            <a:off x="457200" y="273600"/>
            <a:ext cx="8228520" cy="114408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Pulse para editar el formato del texto de título</a:t>
            </a:r>
            <a:endParaRPr lang="en-US" sz="4400" b="0" u="none" strike="noStrike">
              <a:solidFill>
                <a:schemeClr val="dk1"/>
              </a:solidFill>
              <a:effectLst/>
              <a:uFillTx/>
              <a:latin typeface="Calibri"/>
            </a:endParaRPr>
          </a:p>
        </p:txBody>
      </p:sp>
      <p:sp>
        <p:nvSpPr>
          <p:cNvPr id="11" name="PlaceHolder 5"/>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Pulse para editar el formato de texto del esquema</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Segundo nivel del esquema</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Tercer nivel del esquema</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Cuarto nivel del esquema</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Picture 1" descr="1000000000000337000002A09F65688E.png"/>
          <p:cNvPicPr/>
          <p:nvPr/>
        </p:nvPicPr>
        <p:blipFill>
          <a:blip r:embed="rId1"/>
          <a:stretch/>
        </p:blipFill>
        <p:spPr>
          <a:xfrm>
            <a:off x="0" y="0"/>
            <a:ext cx="8397360" cy="6856200"/>
          </a:xfrm>
          <a:prstGeom prst="rect">
            <a:avLst/>
          </a:prstGeom>
          <a:noFill/>
          <a:ln w="0">
            <a:noFill/>
          </a:ln>
        </p:spPr>
      </p:pic>
      <p:sp>
        <p:nvSpPr>
          <p:cNvPr id="19" name="Rectangle 2"/>
          <p:cNvSpPr/>
          <p:nvPr/>
        </p:nvSpPr>
        <p:spPr>
          <a:xfrm>
            <a:off x="0" y="0"/>
            <a:ext cx="9142200" cy="6856200"/>
          </a:xfrm>
          <a:prstGeom prst="rect">
            <a:avLst/>
          </a:prstGeom>
          <a:solidFill>
            <a:srgbClr val="0D1B2A">
              <a:alpha val="75000"/>
            </a:srgbClr>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0" name="Rectangle 3"/>
          <p:cNvSpPr/>
          <p:nvPr/>
        </p:nvSpPr>
        <p:spPr>
          <a:xfrm>
            <a:off x="4114800" y="0"/>
            <a:ext cx="5027400" cy="685620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 name="Rectangle 4"/>
          <p:cNvSpPr/>
          <p:nvPr/>
        </p:nvSpPr>
        <p:spPr>
          <a:xfrm>
            <a:off x="4114800" y="0"/>
            <a:ext cx="34920" cy="685620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22" name="TextBox 5"/>
          <p:cNvSpPr/>
          <p:nvPr/>
        </p:nvSpPr>
        <p:spPr>
          <a:xfrm>
            <a:off x="4343400" y="365760"/>
            <a:ext cx="457020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PROYECTO DE FIN DE CURSO</a:t>
            </a:r>
            <a:endParaRPr lang="mul" sz="1000" b="0" u="none" strike="noStrike">
              <a:solidFill>
                <a:srgbClr val="000000"/>
              </a:solidFill>
              <a:effectLst/>
              <a:uFillTx/>
              <a:latin typeface="Arial"/>
            </a:endParaRPr>
          </a:p>
        </p:txBody>
      </p:sp>
      <p:sp>
        <p:nvSpPr>
          <p:cNvPr id="23" name="TextBox 6"/>
          <p:cNvSpPr/>
          <p:nvPr/>
        </p:nvSpPr>
        <p:spPr>
          <a:xfrm>
            <a:off x="4343400" y="777240"/>
            <a:ext cx="45702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90A0B4"/>
                </a:solidFill>
                <a:effectLst/>
                <a:uFillTx/>
                <a:latin typeface="Calibri"/>
                <a:ea typeface="DejaVu Sans"/>
              </a:rPr>
              <a:t>Técnico Superior DAM  ·  2025-2026</a:t>
            </a:r>
            <a:endParaRPr lang="mul" sz="1100" b="0" u="none" strike="noStrike">
              <a:solidFill>
                <a:srgbClr val="000000"/>
              </a:solidFill>
              <a:effectLst/>
              <a:uFillTx/>
              <a:latin typeface="Arial"/>
            </a:endParaRPr>
          </a:p>
        </p:txBody>
      </p:sp>
      <p:sp>
        <p:nvSpPr>
          <p:cNvPr id="24" name="Rectangle 7"/>
          <p:cNvSpPr/>
          <p:nvPr/>
        </p:nvSpPr>
        <p:spPr>
          <a:xfrm>
            <a:off x="4343400" y="1325880"/>
            <a:ext cx="43873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5" name="TextBox 8"/>
          <p:cNvSpPr/>
          <p:nvPr/>
        </p:nvSpPr>
        <p:spPr>
          <a:xfrm>
            <a:off x="4343400" y="1508760"/>
            <a:ext cx="4570200" cy="11257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3400" b="1" u="none" strike="noStrike">
                <a:solidFill>
                  <a:srgbClr val="FFFFFF"/>
                </a:solidFill>
                <a:effectLst/>
                <a:uFillTx/>
                <a:latin typeface="Calibri"/>
                <a:ea typeface="DejaVu Sans"/>
              </a:rPr>
              <a:t>Crónicas del</a:t>
            </a:r>
            <a:endParaRPr lang="mul" sz="3400" b="0" u="none" strike="noStrike">
              <a:solidFill>
                <a:srgbClr val="000000"/>
              </a:solidFill>
              <a:effectLst/>
              <a:uFillTx/>
              <a:latin typeface="Arial"/>
            </a:endParaRPr>
          </a:p>
          <a:p>
            <a:pPr defTabSz="457200">
              <a:lnSpc>
                <a:spcPct val="100000"/>
              </a:lnSpc>
            </a:pPr>
            <a:r>
              <a:rPr lang="es-ES" sz="3400" b="1" u="none" strike="noStrike">
                <a:solidFill>
                  <a:srgbClr val="FFFFFF"/>
                </a:solidFill>
                <a:effectLst/>
                <a:uFillTx/>
                <a:latin typeface="Calibri"/>
                <a:ea typeface="DejaVu Sans"/>
              </a:rPr>
              <a:t>Log Pose</a:t>
            </a:r>
            <a:endParaRPr lang="mul" sz="3400" b="0" u="none" strike="noStrike">
              <a:solidFill>
                <a:srgbClr val="000000"/>
              </a:solidFill>
              <a:effectLst/>
              <a:uFillTx/>
              <a:latin typeface="Arial"/>
            </a:endParaRPr>
          </a:p>
        </p:txBody>
      </p:sp>
      <p:sp>
        <p:nvSpPr>
          <p:cNvPr id="26" name="TextBox 9"/>
          <p:cNvSpPr/>
          <p:nvPr/>
        </p:nvSpPr>
        <p:spPr>
          <a:xfrm>
            <a:off x="4343400" y="2834640"/>
            <a:ext cx="4570200" cy="394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000" b="0" i="1" u="none" strike="noStrike">
                <a:solidFill>
                  <a:srgbClr val="C8A951"/>
                </a:solidFill>
                <a:effectLst/>
                <a:uFillTx/>
                <a:latin typeface="Calibri"/>
                <a:ea typeface="DejaVu Sans"/>
              </a:rPr>
              <a:t>El Despertar del Mar</a:t>
            </a:r>
            <a:endParaRPr lang="mul" sz="2000" b="0" u="none" strike="noStrike">
              <a:solidFill>
                <a:srgbClr val="000000"/>
              </a:solidFill>
              <a:effectLst/>
              <a:uFillTx/>
              <a:latin typeface="Arial"/>
            </a:endParaRPr>
          </a:p>
        </p:txBody>
      </p:sp>
      <p:sp>
        <p:nvSpPr>
          <p:cNvPr id="27" name="Rectangle 10"/>
          <p:cNvSpPr/>
          <p:nvPr/>
        </p:nvSpPr>
        <p:spPr>
          <a:xfrm>
            <a:off x="4343400" y="3520440"/>
            <a:ext cx="43873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8" name="TextBox 11"/>
          <p:cNvSpPr/>
          <p:nvPr/>
        </p:nvSpPr>
        <p:spPr>
          <a:xfrm>
            <a:off x="4343400" y="3703320"/>
            <a:ext cx="457020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400" b="1" u="none" strike="noStrike">
                <a:solidFill>
                  <a:srgbClr val="FFFFFF"/>
                </a:solidFill>
                <a:effectLst/>
                <a:uFillTx/>
                <a:latin typeface="Calibri"/>
                <a:ea typeface="DejaVu Sans"/>
              </a:rPr>
              <a:t>Raftel Digital Studios S.L.</a:t>
            </a:r>
            <a:endParaRPr lang="mul" sz="1400" b="0" u="none" strike="noStrike">
              <a:solidFill>
                <a:srgbClr val="000000"/>
              </a:solidFill>
              <a:effectLst/>
              <a:uFillTx/>
              <a:latin typeface="Arial"/>
            </a:endParaRPr>
          </a:p>
        </p:txBody>
      </p:sp>
      <p:sp>
        <p:nvSpPr>
          <p:cNvPr id="29" name="TextBox 12"/>
          <p:cNvSpPr/>
          <p:nvPr/>
        </p:nvSpPr>
        <p:spPr>
          <a:xfrm>
            <a:off x="4343400" y="4160520"/>
            <a:ext cx="45702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90A0B4"/>
                </a:solidFill>
                <a:effectLst/>
                <a:uFillTx/>
                <a:latin typeface="Calibri"/>
                <a:ea typeface="DejaVu Sans"/>
              </a:rPr>
              <a:t>Estudio indie de desarrollo de videojuegos</a:t>
            </a:r>
            <a:endParaRPr lang="mul" sz="1100" b="0" u="none" strike="noStrike">
              <a:solidFill>
                <a:srgbClr val="000000"/>
              </a:solidFill>
              <a:effectLst/>
              <a:uFillTx/>
              <a:latin typeface="Arial"/>
            </a:endParaRPr>
          </a:p>
          <a:p>
            <a:pPr defTabSz="457200">
              <a:lnSpc>
                <a:spcPct val="100000"/>
              </a:lnSpc>
            </a:pPr>
            <a:r>
              <a:rPr lang="es-ES" sz="1100" b="0" u="none" strike="noStrike">
                <a:solidFill>
                  <a:srgbClr val="90A0B4"/>
                </a:solidFill>
                <a:effectLst/>
                <a:uFillTx/>
                <a:latin typeface="Calibri"/>
                <a:ea typeface="DejaVu Sans"/>
              </a:rPr>
              <a:t>Córdoba, Andalucía — CNAE 5821</a:t>
            </a:r>
            <a:endParaRPr lang="mul" sz="1100" b="0" u="none" strike="noStrike">
              <a:solidFill>
                <a:srgbClr val="000000"/>
              </a:solidFill>
              <a:effectLst/>
              <a:uFillTx/>
              <a:latin typeface="Arial"/>
            </a:endParaRPr>
          </a:p>
        </p:txBody>
      </p:sp>
      <p:sp>
        <p:nvSpPr>
          <p:cNvPr id="30" name="TextBox 13"/>
          <p:cNvSpPr/>
          <p:nvPr/>
        </p:nvSpPr>
        <p:spPr>
          <a:xfrm>
            <a:off x="4343400" y="5029200"/>
            <a:ext cx="45702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Tutor: Jorge Chaves Quesada</a:t>
            </a:r>
            <a:endParaRPr lang="mul" sz="1100" b="0" u="none" strike="noStrike">
              <a:solidFill>
                <a:srgbClr val="000000"/>
              </a:solidFill>
              <a:effectLst/>
              <a:uFillTx/>
              <a:latin typeface="Arial"/>
            </a:endParaRPr>
          </a:p>
        </p:txBody>
      </p:sp>
      <p:sp>
        <p:nvSpPr>
          <p:cNvPr id="31" name="TextBox 14"/>
          <p:cNvSpPr/>
          <p:nvPr/>
        </p:nvSpPr>
        <p:spPr>
          <a:xfrm>
            <a:off x="4343400" y="5394960"/>
            <a:ext cx="4570200" cy="256680"/>
          </a:xfrm>
          <a:prstGeom prst="rect">
            <a:avLst/>
          </a:prstGeom>
          <a:noFill/>
          <a:ln w="0">
            <a:noFill/>
          </a:ln>
        </p:spPr>
        <p:style>
          <a:lnRef idx="0"/>
          <a:fillRef idx="0"/>
          <a:effectRef idx="0"/>
          <a:fontRef idx="minor"/>
        </p:style>
        <p:txBody>
          <a:bodyPr lIns="90000" tIns="45000" rIns="90000" bIns="45000" anchor="t">
            <a:spAutoFit/>
          </a:bodyPr>
          <a:p>
            <a:endParaRPr lang="es-ES" sz="1800" b="0" u="none" strike="noStrike">
              <a:solidFill>
                <a:srgbClr val="000000"/>
              </a:solidFill>
              <a:effectLst/>
              <a:uFillTx/>
              <a:latin typeface="Arial"/>
            </a:endParaRPr>
          </a:p>
        </p:txBody>
      </p:sp>
      <p:sp>
        <p:nvSpPr>
          <p:cNvPr id="32" name="Rectangle 15"/>
          <p:cNvSpPr/>
          <p:nvPr/>
        </p:nvSpPr>
        <p:spPr>
          <a:xfrm>
            <a:off x="4343400" y="5943600"/>
            <a:ext cx="43873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33" name="TextBox 16"/>
          <p:cNvSpPr/>
          <p:nvPr/>
        </p:nvSpPr>
        <p:spPr>
          <a:xfrm>
            <a:off x="4343400" y="6080760"/>
            <a:ext cx="457020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i="1" u="none" strike="noStrike">
                <a:solidFill>
                  <a:srgbClr val="90A0B4"/>
                </a:solidFill>
                <a:effectLst/>
                <a:uFillTx/>
                <a:latin typeface="Calibri"/>
                <a:ea typeface="DejaVu Sans"/>
              </a:rPr>
              <a:t>Roguelike Deckbuilder  ·  Multiplataforma</a:t>
            </a:r>
            <a:endParaRPr lang="mul"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35"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36"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37"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Raftel Digital Studios S.L.</a:t>
            </a:r>
            <a:endParaRPr lang="mul" sz="2600" b="0" u="none" strike="noStrike">
              <a:solidFill>
                <a:srgbClr val="000000"/>
              </a:solidFill>
              <a:effectLst/>
              <a:uFillTx/>
              <a:latin typeface="Arial"/>
            </a:endParaRPr>
          </a:p>
        </p:txBody>
      </p:sp>
      <p:sp>
        <p:nvSpPr>
          <p:cNvPr id="38"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Quien somos, que hacemos y por que lo hacemos</a:t>
            </a:r>
            <a:endParaRPr lang="mul" sz="1300" b="0" u="none" strike="noStrike">
              <a:solidFill>
                <a:srgbClr val="000000"/>
              </a:solidFill>
              <a:effectLst/>
              <a:uFillTx/>
              <a:latin typeface="Arial"/>
            </a:endParaRPr>
          </a:p>
        </p:txBody>
      </p:sp>
      <p:sp>
        <p:nvSpPr>
          <p:cNvPr id="39" name="TextBox 6"/>
          <p:cNvSpPr/>
          <p:nvPr/>
        </p:nvSpPr>
        <p:spPr>
          <a:xfrm>
            <a:off x="320040" y="1463040"/>
            <a:ext cx="8502120" cy="486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u="none" strike="noStrike">
                <a:solidFill>
                  <a:srgbClr val="E8EEF5"/>
                </a:solidFill>
                <a:effectLst/>
                <a:uFillTx/>
                <a:latin typeface="Calibri"/>
                <a:ea typeface="DejaVu Sans"/>
              </a:rPr>
              <a:t>Estudio independiente de desarrollo de videojuegos con sede en Córdoba, Andalucía, orientado a la creación de productos multimedia interactivos multiplataforma. Opera en el sector de la Edición de videojuegos (CNAE 5821).</a:t>
            </a:r>
            <a:endParaRPr lang="mul" sz="1300" b="0" u="none" strike="noStrike">
              <a:solidFill>
                <a:srgbClr val="000000"/>
              </a:solidFill>
              <a:effectLst/>
              <a:uFillTx/>
              <a:latin typeface="Arial"/>
            </a:endParaRPr>
          </a:p>
        </p:txBody>
      </p:sp>
      <p:sp>
        <p:nvSpPr>
          <p:cNvPr id="40" name="Rectangle 7"/>
          <p:cNvSpPr/>
          <p:nvPr/>
        </p:nvSpPr>
        <p:spPr>
          <a:xfrm>
            <a:off x="320040" y="2377440"/>
            <a:ext cx="2284200" cy="65664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41" name="TextBox 8"/>
          <p:cNvSpPr/>
          <p:nvPr/>
        </p:nvSpPr>
        <p:spPr>
          <a:xfrm>
            <a:off x="411480" y="2505600"/>
            <a:ext cx="21013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Misión</a:t>
            </a:r>
            <a:endParaRPr lang="mul" sz="1200" b="0" u="none" strike="noStrike">
              <a:solidFill>
                <a:srgbClr val="000000"/>
              </a:solidFill>
              <a:effectLst/>
              <a:uFillTx/>
              <a:latin typeface="Arial"/>
            </a:endParaRPr>
          </a:p>
        </p:txBody>
      </p:sp>
      <p:sp>
        <p:nvSpPr>
          <p:cNvPr id="42" name="Rectangle 9"/>
          <p:cNvSpPr/>
          <p:nvPr/>
        </p:nvSpPr>
        <p:spPr>
          <a:xfrm>
            <a:off x="2651760" y="2377440"/>
            <a:ext cx="6170400" cy="656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43" name="TextBox 10"/>
          <p:cNvSpPr/>
          <p:nvPr/>
        </p:nvSpPr>
        <p:spPr>
          <a:xfrm>
            <a:off x="2743200" y="2505600"/>
            <a:ext cx="59418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Transformar mecánicas de juego complejas en experiencias accesibles y emocionantes</a:t>
            </a:r>
            <a:endParaRPr lang="mul" sz="1200" b="0" u="none" strike="noStrike">
              <a:solidFill>
                <a:srgbClr val="000000"/>
              </a:solidFill>
              <a:effectLst/>
              <a:uFillTx/>
              <a:latin typeface="Arial"/>
            </a:endParaRPr>
          </a:p>
        </p:txBody>
      </p:sp>
      <p:sp>
        <p:nvSpPr>
          <p:cNvPr id="44" name="Rectangle 11"/>
          <p:cNvSpPr/>
          <p:nvPr/>
        </p:nvSpPr>
        <p:spPr>
          <a:xfrm>
            <a:off x="320040" y="3163680"/>
            <a:ext cx="2284200" cy="65664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45" name="TextBox 12"/>
          <p:cNvSpPr/>
          <p:nvPr/>
        </p:nvSpPr>
        <p:spPr>
          <a:xfrm>
            <a:off x="411480" y="3291840"/>
            <a:ext cx="21013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Propiedad intelectual</a:t>
            </a:r>
            <a:endParaRPr lang="mul" sz="1200" b="0" u="none" strike="noStrike">
              <a:solidFill>
                <a:srgbClr val="000000"/>
              </a:solidFill>
              <a:effectLst/>
              <a:uFillTx/>
              <a:latin typeface="Arial"/>
            </a:endParaRPr>
          </a:p>
        </p:txBody>
      </p:sp>
      <p:sp>
        <p:nvSpPr>
          <p:cNvPr id="46" name="Rectangle 13"/>
          <p:cNvSpPr/>
          <p:nvPr/>
        </p:nvSpPr>
        <p:spPr>
          <a:xfrm>
            <a:off x="2651760" y="3163680"/>
            <a:ext cx="6170400" cy="656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47" name="TextBox 14"/>
          <p:cNvSpPr/>
          <p:nvPr/>
        </p:nvSpPr>
        <p:spPr>
          <a:xfrm>
            <a:off x="2743200" y="3291840"/>
            <a:ext cx="59418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100% original — sin dependencia de licencias de terceros</a:t>
            </a:r>
            <a:endParaRPr lang="mul" sz="1200" b="0" u="none" strike="noStrike">
              <a:solidFill>
                <a:srgbClr val="000000"/>
              </a:solidFill>
              <a:effectLst/>
              <a:uFillTx/>
              <a:latin typeface="Arial"/>
            </a:endParaRPr>
          </a:p>
        </p:txBody>
      </p:sp>
      <p:sp>
        <p:nvSpPr>
          <p:cNvPr id="48" name="Rectangle 15"/>
          <p:cNvSpPr/>
          <p:nvPr/>
        </p:nvSpPr>
        <p:spPr>
          <a:xfrm>
            <a:off x="320040" y="3950280"/>
            <a:ext cx="2284200" cy="65664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49" name="TextBox 16"/>
          <p:cNvSpPr/>
          <p:nvPr/>
        </p:nvSpPr>
        <p:spPr>
          <a:xfrm>
            <a:off x="411480" y="4078080"/>
            <a:ext cx="21013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Plataformas objetivo</a:t>
            </a:r>
            <a:endParaRPr lang="mul" sz="1200" b="0" u="none" strike="noStrike">
              <a:solidFill>
                <a:srgbClr val="000000"/>
              </a:solidFill>
              <a:effectLst/>
              <a:uFillTx/>
              <a:latin typeface="Arial"/>
            </a:endParaRPr>
          </a:p>
        </p:txBody>
      </p:sp>
      <p:sp>
        <p:nvSpPr>
          <p:cNvPr id="50" name="Rectangle 17"/>
          <p:cNvSpPr/>
          <p:nvPr/>
        </p:nvSpPr>
        <p:spPr>
          <a:xfrm>
            <a:off x="2651760" y="3950280"/>
            <a:ext cx="6170400" cy="656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51" name="TextBox 18"/>
          <p:cNvSpPr/>
          <p:nvPr/>
        </p:nvSpPr>
        <p:spPr>
          <a:xfrm>
            <a:off x="2743200" y="4078080"/>
            <a:ext cx="59418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PC (Windows / Linux),  Android  e  iOS</a:t>
            </a:r>
            <a:endParaRPr lang="mul" sz="1200" b="0" u="none" strike="noStrike">
              <a:solidFill>
                <a:srgbClr val="000000"/>
              </a:solidFill>
              <a:effectLst/>
              <a:uFillTx/>
              <a:latin typeface="Arial"/>
            </a:endParaRPr>
          </a:p>
        </p:txBody>
      </p:sp>
      <p:sp>
        <p:nvSpPr>
          <p:cNvPr id="52" name="Rectangle 19"/>
          <p:cNvSpPr/>
          <p:nvPr/>
        </p:nvSpPr>
        <p:spPr>
          <a:xfrm>
            <a:off x="320040" y="4736520"/>
            <a:ext cx="2284200" cy="65664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53" name="TextBox 20"/>
          <p:cNvSpPr/>
          <p:nvPr/>
        </p:nvSpPr>
        <p:spPr>
          <a:xfrm>
            <a:off x="411480" y="4864680"/>
            <a:ext cx="21013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Imagen corporativa</a:t>
            </a:r>
            <a:endParaRPr lang="mul" sz="1200" b="0" u="none" strike="noStrike">
              <a:solidFill>
                <a:srgbClr val="000000"/>
              </a:solidFill>
              <a:effectLst/>
              <a:uFillTx/>
              <a:latin typeface="Arial"/>
            </a:endParaRPr>
          </a:p>
        </p:txBody>
      </p:sp>
      <p:sp>
        <p:nvSpPr>
          <p:cNvPr id="54" name="Rectangle 21"/>
          <p:cNvSpPr/>
          <p:nvPr/>
        </p:nvSpPr>
        <p:spPr>
          <a:xfrm>
            <a:off x="2651760" y="4736520"/>
            <a:ext cx="6170400" cy="656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55" name="TextBox 22"/>
          <p:cNvSpPr/>
          <p:nvPr/>
        </p:nvSpPr>
        <p:spPr>
          <a:xfrm>
            <a:off x="2743200" y="4864680"/>
            <a:ext cx="59418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Basada en el Log Pose: brújula náutica estilizada</a:t>
            </a:r>
            <a:endParaRPr lang="mul" sz="1200" b="0" u="none" strike="noStrike">
              <a:solidFill>
                <a:srgbClr val="000000"/>
              </a:solidFill>
              <a:effectLst/>
              <a:uFillTx/>
              <a:latin typeface="Arial"/>
            </a:endParaRPr>
          </a:p>
        </p:txBody>
      </p:sp>
      <p:sp>
        <p:nvSpPr>
          <p:cNvPr id="56" name="Rectangle 23"/>
          <p:cNvSpPr/>
          <p:nvPr/>
        </p:nvSpPr>
        <p:spPr>
          <a:xfrm>
            <a:off x="320040" y="5523120"/>
            <a:ext cx="2284200" cy="65664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57" name="TextBox 24"/>
          <p:cNvSpPr/>
          <p:nvPr/>
        </p:nvSpPr>
        <p:spPr>
          <a:xfrm>
            <a:off x="411480" y="5650920"/>
            <a:ext cx="21013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Sede y modalidad</a:t>
            </a:r>
            <a:endParaRPr lang="mul" sz="1200" b="0" u="none" strike="noStrike">
              <a:solidFill>
                <a:srgbClr val="000000"/>
              </a:solidFill>
              <a:effectLst/>
              <a:uFillTx/>
              <a:latin typeface="Arial"/>
            </a:endParaRPr>
          </a:p>
        </p:txBody>
      </p:sp>
      <p:sp>
        <p:nvSpPr>
          <p:cNvPr id="58" name="Rectangle 25"/>
          <p:cNvSpPr/>
          <p:nvPr/>
        </p:nvSpPr>
        <p:spPr>
          <a:xfrm>
            <a:off x="2651760" y="5523120"/>
            <a:ext cx="6170400" cy="656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59" name="TextBox 26"/>
          <p:cNvSpPr/>
          <p:nvPr/>
        </p:nvSpPr>
        <p:spPr>
          <a:xfrm>
            <a:off x="2743200" y="5650920"/>
            <a:ext cx="59418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Coworking 30 m2 en Córdoba · Teletrabajo + presencial · Fibra 1 Gbps</a:t>
            </a:r>
            <a:endParaRPr lang="mul"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61"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62"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63"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Oportunidad de mercado y análisis DAFO</a:t>
            </a:r>
            <a:endParaRPr lang="mul" sz="2600" b="0" u="none" strike="noStrike">
              <a:solidFill>
                <a:srgbClr val="000000"/>
              </a:solidFill>
              <a:effectLst/>
              <a:uFillTx/>
              <a:latin typeface="Arial"/>
            </a:endParaRPr>
          </a:p>
        </p:txBody>
      </p:sp>
      <p:sp>
        <p:nvSpPr>
          <p:cNvPr id="64"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Un genero en auge con espacio para nuevas propuestas independientes</a:t>
            </a:r>
            <a:endParaRPr lang="mul" sz="1300" b="0" u="none" strike="noStrike">
              <a:solidFill>
                <a:srgbClr val="000000"/>
              </a:solidFill>
              <a:effectLst/>
              <a:uFillTx/>
              <a:latin typeface="Arial"/>
            </a:endParaRPr>
          </a:p>
        </p:txBody>
      </p:sp>
      <p:sp>
        <p:nvSpPr>
          <p:cNvPr id="65" name="Rectangle 6"/>
          <p:cNvSpPr/>
          <p:nvPr/>
        </p:nvSpPr>
        <p:spPr>
          <a:xfrm>
            <a:off x="228600" y="1463040"/>
            <a:ext cx="1991520" cy="141552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66" name="Rectangle 7"/>
          <p:cNvSpPr/>
          <p:nvPr/>
        </p:nvSpPr>
        <p:spPr>
          <a:xfrm>
            <a:off x="228600" y="1463040"/>
            <a:ext cx="199152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67" name="TextBox 8"/>
          <p:cNvSpPr/>
          <p:nvPr/>
        </p:nvSpPr>
        <p:spPr>
          <a:xfrm>
            <a:off x="320040" y="1536120"/>
            <a:ext cx="182700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200" b="1" u="none" strike="noStrike">
                <a:solidFill>
                  <a:srgbClr val="C8A951"/>
                </a:solidFill>
                <a:effectLst/>
                <a:uFillTx/>
                <a:latin typeface="Calibri"/>
                <a:ea typeface="DejaVu Sans"/>
              </a:rPr>
              <a:t>$3.800M</a:t>
            </a:r>
            <a:endParaRPr lang="mul" sz="2200" b="0" u="none" strike="noStrike">
              <a:solidFill>
                <a:srgbClr val="000000"/>
              </a:solidFill>
              <a:effectLst/>
              <a:uFillTx/>
              <a:latin typeface="Arial"/>
            </a:endParaRPr>
          </a:p>
        </p:txBody>
      </p:sp>
      <p:sp>
        <p:nvSpPr>
          <p:cNvPr id="68" name="TextBox 9"/>
          <p:cNvSpPr/>
          <p:nvPr/>
        </p:nvSpPr>
        <p:spPr>
          <a:xfrm>
            <a:off x="320040" y="216720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Valoración global</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proyectada 2025</a:t>
            </a:r>
            <a:endParaRPr lang="mul" sz="1100" b="0" u="none" strike="noStrike">
              <a:solidFill>
                <a:srgbClr val="000000"/>
              </a:solidFill>
              <a:effectLst/>
              <a:uFillTx/>
              <a:latin typeface="Arial"/>
            </a:endParaRPr>
          </a:p>
        </p:txBody>
      </p:sp>
      <p:sp>
        <p:nvSpPr>
          <p:cNvPr id="69" name="Rectangle 10"/>
          <p:cNvSpPr/>
          <p:nvPr/>
        </p:nvSpPr>
        <p:spPr>
          <a:xfrm>
            <a:off x="2441520" y="1463040"/>
            <a:ext cx="1991520" cy="141552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70" name="Rectangle 11"/>
          <p:cNvSpPr/>
          <p:nvPr/>
        </p:nvSpPr>
        <p:spPr>
          <a:xfrm>
            <a:off x="2441520" y="1463040"/>
            <a:ext cx="199152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71" name="TextBox 12"/>
          <p:cNvSpPr/>
          <p:nvPr/>
        </p:nvSpPr>
        <p:spPr>
          <a:xfrm>
            <a:off x="2532960" y="1536120"/>
            <a:ext cx="182700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200" b="1" u="none" strike="noStrike">
                <a:solidFill>
                  <a:srgbClr val="C8A951"/>
                </a:solidFill>
                <a:effectLst/>
                <a:uFillTx/>
                <a:latin typeface="Calibri"/>
                <a:ea typeface="DejaVu Sans"/>
              </a:rPr>
              <a:t>10,8%</a:t>
            </a:r>
            <a:endParaRPr lang="mul" sz="2200" b="0" u="none" strike="noStrike">
              <a:solidFill>
                <a:srgbClr val="000000"/>
              </a:solidFill>
              <a:effectLst/>
              <a:uFillTx/>
              <a:latin typeface="Arial"/>
            </a:endParaRPr>
          </a:p>
        </p:txBody>
      </p:sp>
      <p:sp>
        <p:nvSpPr>
          <p:cNvPr id="72" name="TextBox 13"/>
          <p:cNvSpPr/>
          <p:nvPr/>
        </p:nvSpPr>
        <p:spPr>
          <a:xfrm>
            <a:off x="2532960" y="216720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CAGR mercado</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roguelike</a:t>
            </a:r>
            <a:endParaRPr lang="mul" sz="1100" b="0" u="none" strike="noStrike">
              <a:solidFill>
                <a:srgbClr val="000000"/>
              </a:solidFill>
              <a:effectLst/>
              <a:uFillTx/>
              <a:latin typeface="Arial"/>
            </a:endParaRPr>
          </a:p>
        </p:txBody>
      </p:sp>
      <p:sp>
        <p:nvSpPr>
          <p:cNvPr id="73" name="Rectangle 14"/>
          <p:cNvSpPr/>
          <p:nvPr/>
        </p:nvSpPr>
        <p:spPr>
          <a:xfrm>
            <a:off x="4654440" y="1463040"/>
            <a:ext cx="1991520" cy="141552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74" name="Rectangle 15"/>
          <p:cNvSpPr/>
          <p:nvPr/>
        </p:nvSpPr>
        <p:spPr>
          <a:xfrm>
            <a:off x="4654440" y="1463040"/>
            <a:ext cx="199152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75" name="TextBox 16"/>
          <p:cNvSpPr/>
          <p:nvPr/>
        </p:nvSpPr>
        <p:spPr>
          <a:xfrm>
            <a:off x="4745880" y="1536120"/>
            <a:ext cx="182700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200" b="1" u="none" strike="noStrike">
                <a:solidFill>
                  <a:srgbClr val="C8A951"/>
                </a:solidFill>
                <a:effectLst/>
                <a:uFillTx/>
                <a:latin typeface="Calibri"/>
                <a:ea typeface="DejaVu Sans"/>
              </a:rPr>
              <a:t>13,9%</a:t>
            </a:r>
            <a:endParaRPr lang="mul" sz="2200" b="0" u="none" strike="noStrike">
              <a:solidFill>
                <a:srgbClr val="000000"/>
              </a:solidFill>
              <a:effectLst/>
              <a:uFillTx/>
              <a:latin typeface="Arial"/>
            </a:endParaRPr>
          </a:p>
        </p:txBody>
      </p:sp>
      <p:sp>
        <p:nvSpPr>
          <p:cNvPr id="76" name="TextBox 17"/>
          <p:cNvSpPr/>
          <p:nvPr/>
        </p:nvSpPr>
        <p:spPr>
          <a:xfrm>
            <a:off x="4745880" y="216720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CAGR segmento</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móvil</a:t>
            </a:r>
            <a:endParaRPr lang="mul" sz="1100" b="0" u="none" strike="noStrike">
              <a:solidFill>
                <a:srgbClr val="000000"/>
              </a:solidFill>
              <a:effectLst/>
              <a:uFillTx/>
              <a:latin typeface="Arial"/>
            </a:endParaRPr>
          </a:p>
        </p:txBody>
      </p:sp>
      <p:sp>
        <p:nvSpPr>
          <p:cNvPr id="77" name="Rectangle 18"/>
          <p:cNvSpPr/>
          <p:nvPr/>
        </p:nvSpPr>
        <p:spPr>
          <a:xfrm>
            <a:off x="6867000" y="1463040"/>
            <a:ext cx="1991520" cy="141552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78" name="Rectangle 19"/>
          <p:cNvSpPr/>
          <p:nvPr/>
        </p:nvSpPr>
        <p:spPr>
          <a:xfrm>
            <a:off x="6867000" y="1463040"/>
            <a:ext cx="199152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79" name="TextBox 20"/>
          <p:cNvSpPr/>
          <p:nvPr/>
        </p:nvSpPr>
        <p:spPr>
          <a:xfrm>
            <a:off x="6958440" y="1536120"/>
            <a:ext cx="182700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200" b="1" u="none" strike="noStrike">
                <a:solidFill>
                  <a:srgbClr val="C8A951"/>
                </a:solidFill>
                <a:effectLst/>
                <a:uFillTx/>
                <a:latin typeface="Calibri"/>
                <a:ea typeface="DejaVu Sans"/>
              </a:rPr>
              <a:t>+10M copias</a:t>
            </a:r>
            <a:endParaRPr lang="mul" sz="2200" b="0" u="none" strike="noStrike">
              <a:solidFill>
                <a:srgbClr val="000000"/>
              </a:solidFill>
              <a:effectLst/>
              <a:uFillTx/>
              <a:latin typeface="Arial"/>
            </a:endParaRPr>
          </a:p>
        </p:txBody>
      </p:sp>
      <p:sp>
        <p:nvSpPr>
          <p:cNvPr id="80" name="TextBox 21"/>
          <p:cNvSpPr/>
          <p:nvPr/>
        </p:nvSpPr>
        <p:spPr>
          <a:xfrm>
            <a:off x="6958440" y="216720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Slay the Spire:</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demanda probada</a:t>
            </a:r>
            <a:endParaRPr lang="mul" sz="1100" b="0" u="none" strike="noStrike">
              <a:solidFill>
                <a:srgbClr val="000000"/>
              </a:solidFill>
              <a:effectLst/>
              <a:uFillTx/>
              <a:latin typeface="Arial"/>
            </a:endParaRPr>
          </a:p>
        </p:txBody>
      </p:sp>
      <p:sp>
        <p:nvSpPr>
          <p:cNvPr id="81" name="Rectangle 22"/>
          <p:cNvSpPr/>
          <p:nvPr/>
        </p:nvSpPr>
        <p:spPr>
          <a:xfrm>
            <a:off x="320040" y="3108960"/>
            <a:ext cx="182700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82" name="TextBox 23"/>
          <p:cNvSpPr/>
          <p:nvPr/>
        </p:nvSpPr>
        <p:spPr>
          <a:xfrm>
            <a:off x="393120" y="3154680"/>
            <a:ext cx="173556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ANÁLISIS DAFO</a:t>
            </a:r>
            <a:endParaRPr lang="mul" sz="1000" b="0" u="none" strike="noStrike">
              <a:solidFill>
                <a:srgbClr val="000000"/>
              </a:solidFill>
              <a:effectLst/>
              <a:uFillTx/>
              <a:latin typeface="Arial"/>
            </a:endParaRPr>
          </a:p>
        </p:txBody>
      </p:sp>
      <p:graphicFrame>
        <p:nvGraphicFramePr>
          <p:cNvPr id="83" name="Table 24"/>
          <p:cNvGraphicFramePr/>
          <p:nvPr/>
        </p:nvGraphicFramePr>
        <p:xfrm>
          <a:off x="320040" y="3520440"/>
          <a:ext cx="8503560" cy="3061800"/>
        </p:xfrm>
        <a:graphic>
          <a:graphicData uri="http://schemas.openxmlformats.org/drawingml/2006/table">
            <a:tbl>
              <a:tblPr/>
              <a:tblGrid>
                <a:gridCol w="1645920"/>
                <a:gridCol w="6858000"/>
              </a:tblGrid>
              <a:tr h="612360">
                <a:tc>
                  <a:txBody>
                    <a:bodyPr anchor="t">
                      <a:noAutofit/>
                    </a:bodyPr>
                    <a:p>
                      <a:pPr defTabSz="457200">
                        <a:lnSpc>
                          <a:spcPct val="100000"/>
                        </a:lnSpc>
                      </a:pPr>
                      <a:r>
                        <a:rPr lang="en-US" sz="1200" b="1" u="none" strike="noStrike">
                          <a:solidFill>
                            <a:srgbClr val="FFFFFF"/>
                          </a:solidFill>
                          <a:effectLst/>
                          <a:uFillTx/>
                          <a:latin typeface="Calibri"/>
                        </a:rPr>
                        <a:t>Dimension</a:t>
                      </a:r>
                      <a:endParaRPr lang="mul"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c>
                  <a:txBody>
                    <a:bodyPr anchor="t">
                      <a:noAutofit/>
                    </a:bodyPr>
                    <a:p>
                      <a:pPr defTabSz="457200">
                        <a:lnSpc>
                          <a:spcPct val="100000"/>
                        </a:lnSpc>
                      </a:pPr>
                      <a:r>
                        <a:rPr lang="es-ES" sz="1200" b="1" u="none" strike="noStrike">
                          <a:solidFill>
                            <a:srgbClr val="FFFFFF"/>
                          </a:solidFill>
                          <a:effectLst/>
                          <a:uFillTx/>
                          <a:latin typeface="Calibri"/>
                        </a:rPr>
                        <a:t>Descripción</a:t>
                      </a:r>
                      <a:endParaRPr lang="mul"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r>
              <a:tr h="612360">
                <a:tc>
                  <a:txBody>
                    <a:bodyPr anchor="t">
                      <a:noAutofit/>
                    </a:bodyPr>
                    <a:p>
                      <a:pPr defTabSz="457200">
                        <a:lnSpc>
                          <a:spcPct val="100000"/>
                        </a:lnSpc>
                      </a:pPr>
                      <a:r>
                        <a:rPr lang="es-ES" sz="1100" b="0" u="none" strike="noStrike">
                          <a:solidFill>
                            <a:srgbClr val="FFFFFF"/>
                          </a:solidFill>
                          <a:effectLst/>
                          <a:uFillTx/>
                          <a:latin typeface="Calibri"/>
                        </a:rPr>
                        <a:t>Fortalezas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100" b="0" u="none" strike="noStrike">
                          <a:solidFill>
                            <a:srgbClr val="FFFFFF"/>
                          </a:solidFill>
                          <a:effectLst/>
                          <a:uFillTx/>
                          <a:latin typeface="Calibri"/>
                        </a:rPr>
                        <a:t>Alta </a:t>
                      </a:r>
                      <a:r>
                        <a:rPr lang="es-ES" sz="1100" b="0" u="none" strike="noStrike">
                          <a:solidFill>
                            <a:srgbClr val="FFFFFF"/>
                          </a:solidFill>
                          <a:effectLst/>
                          <a:uFillTx/>
                          <a:latin typeface="Calibri"/>
                        </a:rPr>
                        <a:t>capacitación</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técnica</a:t>
                      </a:r>
                      <a:r>
                        <a:rPr lang="en-US" sz="1100" b="0" u="none" strike="noStrike">
                          <a:solidFill>
                            <a:srgbClr val="FFFFFF"/>
                          </a:solidFill>
                          <a:effectLst/>
                          <a:uFillTx/>
                          <a:latin typeface="Calibri"/>
                        </a:rPr>
                        <a:t> en C# y Godot Engine 4; </a:t>
                      </a:r>
                      <a:r>
                        <a:rPr lang="es-ES" sz="1100" b="0" u="none" strike="noStrike">
                          <a:solidFill>
                            <a:srgbClr val="FFFFFF"/>
                          </a:solidFill>
                          <a:effectLst/>
                          <a:uFillTx/>
                          <a:latin typeface="Calibri"/>
                        </a:rPr>
                        <a:t>costes</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reducidos</a:t>
                      </a:r>
                      <a:r>
                        <a:rPr lang="en-US" sz="1100" b="0" u="none" strike="noStrike">
                          <a:solidFill>
                            <a:srgbClr val="FFFFFF"/>
                          </a:solidFill>
                          <a:effectLst/>
                          <a:uFillTx/>
                          <a:latin typeface="Calibri"/>
                        </a:rPr>
                        <a:t>; IP 100% </a:t>
                      </a:r>
                      <a:r>
                        <a:rPr lang="es-ES" sz="1100" b="0" u="none" strike="noStrike">
                          <a:solidFill>
                            <a:srgbClr val="FFFFFF"/>
                          </a:solidFill>
                          <a:effectLst/>
                          <a:uFillTx/>
                          <a:latin typeface="Calibri"/>
                        </a:rPr>
                        <a:t>propia</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612360">
                <a:tc>
                  <a:txBody>
                    <a:bodyPr anchor="t">
                      <a:noAutofit/>
                    </a:bodyPr>
                    <a:p>
                      <a:pPr defTabSz="457200">
                        <a:lnSpc>
                          <a:spcPct val="100000"/>
                        </a:lnSpc>
                      </a:pPr>
                      <a:r>
                        <a:rPr lang="es-ES" sz="1100" b="0" u="none" strike="noStrike">
                          <a:solidFill>
                            <a:srgbClr val="FFFFFF"/>
                          </a:solidFill>
                          <a:effectLst/>
                          <a:uFillTx/>
                          <a:latin typeface="Calibri"/>
                        </a:rPr>
                        <a:t>Debilidades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100" b="0" u="none" strike="noStrike">
                          <a:solidFill>
                            <a:srgbClr val="FFFFFF"/>
                          </a:solidFill>
                          <a:effectLst/>
                          <a:uFillTx/>
                          <a:latin typeface="Calibri"/>
                        </a:rPr>
                        <a:t>Sin </a:t>
                      </a:r>
                      <a:r>
                        <a:rPr lang="es-ES" sz="1100" b="0" u="none" strike="noStrike">
                          <a:solidFill>
                            <a:srgbClr val="FFFFFF"/>
                          </a:solidFill>
                          <a:effectLst/>
                          <a:uFillTx/>
                          <a:latin typeface="Calibri"/>
                        </a:rPr>
                        <a:t>presencia</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inicial</a:t>
                      </a:r>
                      <a:r>
                        <a:rPr lang="en-US" sz="1100" b="0" u="none" strike="noStrike">
                          <a:solidFill>
                            <a:srgbClr val="FFFFFF"/>
                          </a:solidFill>
                          <a:effectLst/>
                          <a:uFillTx/>
                          <a:latin typeface="Calibri"/>
                        </a:rPr>
                        <a:t> en </a:t>
                      </a:r>
                      <a:r>
                        <a:rPr lang="es-ES" sz="1100" b="0" u="none" strike="noStrike">
                          <a:solidFill>
                            <a:srgbClr val="FFFFFF"/>
                          </a:solidFill>
                          <a:effectLst/>
                          <a:uFillTx/>
                          <a:latin typeface="Calibri"/>
                        </a:rPr>
                        <a:t>el</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mercado</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presupuesto</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de</a:t>
                      </a:r>
                      <a:r>
                        <a:rPr lang="en-US" sz="1100" b="0" u="none" strike="noStrike">
                          <a:solidFill>
                            <a:srgbClr val="FFFFFF"/>
                          </a:solidFill>
                          <a:effectLst/>
                          <a:uFillTx/>
                          <a:latin typeface="Calibri"/>
                        </a:rPr>
                        <a:t> marketing </a:t>
                      </a:r>
                      <a:r>
                        <a:rPr lang="es-ES" sz="1100" b="0" u="none" strike="noStrike">
                          <a:solidFill>
                            <a:srgbClr val="FFFFFF"/>
                          </a:solidFill>
                          <a:effectLst/>
                          <a:uFillTx/>
                          <a:latin typeface="Calibri"/>
                        </a:rPr>
                        <a:t>limitado</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equipo</a:t>
                      </a:r>
                      <a:r>
                        <a:rPr lang="en-US" sz="1100" b="0" u="none" strike="noStrike">
                          <a:solidFill>
                            <a:srgbClr val="FFFFFF"/>
                          </a:solidFill>
                          <a:effectLst/>
                          <a:uFillTx/>
                          <a:latin typeface="Calibri"/>
                        </a:rPr>
                        <a:t> de 4</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r h="612360">
                <a:tc>
                  <a:txBody>
                    <a:bodyPr anchor="t">
                      <a:noAutofit/>
                    </a:bodyPr>
                    <a:p>
                      <a:pPr defTabSz="457200">
                        <a:lnSpc>
                          <a:spcPct val="100000"/>
                        </a:lnSpc>
                      </a:pPr>
                      <a:r>
                        <a:rPr lang="en-US" sz="1100" b="0" u="none" strike="noStrike">
                          <a:solidFill>
                            <a:srgbClr val="FFFFFF"/>
                          </a:solidFill>
                          <a:effectLst/>
                          <a:uFillTx/>
                          <a:latin typeface="Calibri"/>
                        </a:rPr>
                        <a:t>Oportunidades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100" b="0" u="none" strike="noStrike">
                          <a:solidFill>
                            <a:srgbClr val="FFFFFF"/>
                          </a:solidFill>
                          <a:effectLst/>
                          <a:uFillTx/>
                          <a:latin typeface="Calibri"/>
                        </a:rPr>
                        <a:t>CAGR 10,8% roguelike; ayudas RETECH y TRADE en </a:t>
                      </a:r>
                      <a:r>
                        <a:rPr lang="es-ES" sz="1100" b="0" u="none" strike="noStrike">
                          <a:solidFill>
                            <a:srgbClr val="FFFFFF"/>
                          </a:solidFill>
                          <a:effectLst/>
                          <a:uFillTx/>
                          <a:latin typeface="Calibri"/>
                        </a:rPr>
                        <a:t>Andalucía</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móvil</a:t>
                      </a:r>
                      <a:r>
                        <a:rPr lang="en-US" sz="1100" b="0" u="none" strike="noStrike">
                          <a:solidFill>
                            <a:srgbClr val="FFFFFF"/>
                          </a:solidFill>
                          <a:effectLst/>
                          <a:uFillTx/>
                          <a:latin typeface="Calibri"/>
                        </a:rPr>
                        <a:t> en expansion</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612360">
                <a:tc>
                  <a:txBody>
                    <a:bodyPr anchor="t">
                      <a:noAutofit/>
                    </a:bodyPr>
                    <a:p>
                      <a:pPr defTabSz="457200">
                        <a:lnSpc>
                          <a:spcPct val="100000"/>
                        </a:lnSpc>
                      </a:pPr>
                      <a:r>
                        <a:rPr lang="es-ES" sz="1100" b="0" u="none" strike="noStrike">
                          <a:solidFill>
                            <a:srgbClr val="FFFFFF"/>
                          </a:solidFill>
                          <a:effectLst/>
                          <a:uFillTx/>
                          <a:latin typeface="Calibri"/>
                        </a:rPr>
                        <a:t>Amenazas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s-ES" sz="1100" b="0" u="none" strike="noStrike">
                          <a:solidFill>
                            <a:srgbClr val="FFFFFF"/>
                          </a:solidFill>
                          <a:effectLst/>
                          <a:uFillTx/>
                          <a:latin typeface="Calibri"/>
                        </a:rPr>
                        <a:t>Saturación</a:t>
                      </a:r>
                      <a:r>
                        <a:rPr lang="en-US" sz="1100" b="0" u="none" strike="noStrike">
                          <a:solidFill>
                            <a:srgbClr val="FFFFFF"/>
                          </a:solidFill>
                          <a:effectLst/>
                          <a:uFillTx/>
                          <a:latin typeface="Calibri"/>
                        </a:rPr>
                        <a:t> de </a:t>
                      </a:r>
                      <a:r>
                        <a:rPr lang="es-ES" sz="1100" b="0" u="none" strike="noStrike">
                          <a:solidFill>
                            <a:srgbClr val="FFFFFF"/>
                          </a:solidFill>
                          <a:effectLst/>
                          <a:uFillTx/>
                          <a:latin typeface="Calibri"/>
                        </a:rPr>
                        <a:t>títulos</a:t>
                      </a:r>
                      <a:r>
                        <a:rPr lang="en-US" sz="1100" b="0" u="none" strike="noStrike">
                          <a:solidFill>
                            <a:srgbClr val="FFFFFF"/>
                          </a:solidFill>
                          <a:effectLst/>
                          <a:uFillTx/>
                          <a:latin typeface="Calibri"/>
                        </a:rPr>
                        <a:t> indie en Steam; </a:t>
                      </a:r>
                      <a:r>
                        <a:rPr lang="es-ES" sz="1100" b="0" u="none" strike="noStrike">
                          <a:solidFill>
                            <a:srgbClr val="FFFFFF"/>
                          </a:solidFill>
                          <a:effectLst/>
                          <a:uFillTx/>
                          <a:latin typeface="Calibri"/>
                        </a:rPr>
                        <a:t>volatilidad</a:t>
                      </a:r>
                      <a:r>
                        <a:rPr lang="en-US" sz="1100" b="0" u="none" strike="noStrike">
                          <a:solidFill>
                            <a:srgbClr val="FFFFFF"/>
                          </a:solidFill>
                          <a:effectLst/>
                          <a:uFillTx/>
                          <a:latin typeface="Calibri"/>
                        </a:rPr>
                        <a:t> de </a:t>
                      </a:r>
                      <a:r>
                        <a:rPr lang="es-ES" sz="1100" b="0" u="none" strike="noStrike">
                          <a:solidFill>
                            <a:srgbClr val="FFFFFF"/>
                          </a:solidFill>
                          <a:effectLst/>
                          <a:uFillTx/>
                          <a:latin typeface="Calibri"/>
                        </a:rPr>
                        <a:t>tiendas</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piratería</a:t>
                      </a:r>
                      <a:r>
                        <a:rPr lang="en-US" sz="1100" b="0" u="none" strike="noStrike">
                          <a:solidFill>
                            <a:srgbClr val="FFFFFF"/>
                          </a:solidFill>
                          <a:effectLst/>
                          <a:uFillTx/>
                          <a:latin typeface="Calibri"/>
                        </a:rPr>
                        <a:t> en </a:t>
                      </a:r>
                      <a:r>
                        <a:rPr lang="es-ES" sz="1100" b="0" u="none" strike="noStrike">
                          <a:solidFill>
                            <a:srgbClr val="FFFFFF"/>
                          </a:solidFill>
                          <a:effectLst/>
                          <a:uFillTx/>
                          <a:latin typeface="Calibri"/>
                        </a:rPr>
                        <a:t>mercados</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clave</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85"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86"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87"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El producto</a:t>
            </a:r>
            <a:endParaRPr lang="mul" sz="2600" b="0" u="none" strike="noStrike">
              <a:solidFill>
                <a:srgbClr val="000000"/>
              </a:solidFill>
              <a:effectLst/>
              <a:uFillTx/>
              <a:latin typeface="Arial"/>
            </a:endParaRPr>
          </a:p>
        </p:txBody>
      </p:sp>
      <p:sp>
        <p:nvSpPr>
          <p:cNvPr id="88"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Crónicas del Log Pose: El Despertar del Mar</a:t>
            </a:r>
            <a:endParaRPr lang="mul" sz="1300" b="0" u="none" strike="noStrike">
              <a:solidFill>
                <a:srgbClr val="000000"/>
              </a:solidFill>
              <a:effectLst/>
              <a:uFillTx/>
              <a:latin typeface="Arial"/>
            </a:endParaRPr>
          </a:p>
        </p:txBody>
      </p:sp>
      <p:pic>
        <p:nvPicPr>
          <p:cNvPr id="89" name="Picture 6" descr="1000000000000560000003004A97EE95.png"/>
          <p:cNvPicPr/>
          <p:nvPr/>
        </p:nvPicPr>
        <p:blipFill>
          <a:blip r:embed="rId1"/>
          <a:stretch/>
        </p:blipFill>
        <p:spPr>
          <a:xfrm>
            <a:off x="4709160" y="1325880"/>
            <a:ext cx="4341600" cy="2422440"/>
          </a:xfrm>
          <a:prstGeom prst="rect">
            <a:avLst/>
          </a:prstGeom>
          <a:noFill/>
          <a:ln w="0">
            <a:noFill/>
          </a:ln>
        </p:spPr>
      </p:pic>
      <p:sp>
        <p:nvSpPr>
          <p:cNvPr id="90" name="TextBox 7"/>
          <p:cNvSpPr/>
          <p:nvPr/>
        </p:nvSpPr>
        <p:spPr>
          <a:xfrm>
            <a:off x="320040" y="1417320"/>
            <a:ext cx="425016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Roguelike deckbuilder con generación procedimental</a:t>
            </a:r>
            <a:endParaRPr lang="mul" sz="1300" b="0" u="none" strike="noStrike">
              <a:solidFill>
                <a:srgbClr val="000000"/>
              </a:solidFill>
              <a:effectLst/>
              <a:uFillTx/>
              <a:latin typeface="Arial"/>
            </a:endParaRPr>
          </a:p>
        </p:txBody>
      </p:sp>
      <p:sp>
        <p:nvSpPr>
          <p:cNvPr id="91" name="Rectangle 8"/>
          <p:cNvSpPr/>
          <p:nvPr/>
        </p:nvSpPr>
        <p:spPr>
          <a:xfrm>
            <a:off x="320040" y="1965960"/>
            <a:ext cx="210132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92" name="TextBox 9"/>
          <p:cNvSpPr/>
          <p:nvPr/>
        </p:nvSpPr>
        <p:spPr>
          <a:xfrm>
            <a:off x="393120" y="2011680"/>
            <a:ext cx="200988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LOS CUATRO ACTOS</a:t>
            </a:r>
            <a:endParaRPr lang="mul" sz="1000" b="0" u="none" strike="noStrike">
              <a:solidFill>
                <a:srgbClr val="000000"/>
              </a:solidFill>
              <a:effectLst/>
              <a:uFillTx/>
              <a:latin typeface="Arial"/>
            </a:endParaRPr>
          </a:p>
        </p:txBody>
      </p:sp>
      <p:sp>
        <p:nvSpPr>
          <p:cNvPr id="93" name="Rectangle 10"/>
          <p:cNvSpPr/>
          <p:nvPr/>
        </p:nvSpPr>
        <p:spPr>
          <a:xfrm>
            <a:off x="320040" y="2395800"/>
            <a:ext cx="4250160" cy="45540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94" name="Rectangle 11"/>
          <p:cNvSpPr/>
          <p:nvPr/>
        </p:nvSpPr>
        <p:spPr>
          <a:xfrm>
            <a:off x="320040" y="2395800"/>
            <a:ext cx="34920" cy="45540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95" name="TextBox 12"/>
          <p:cNvSpPr/>
          <p:nvPr/>
        </p:nvSpPr>
        <p:spPr>
          <a:xfrm>
            <a:off x="457200" y="2468880"/>
            <a:ext cx="402156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Acto 1  —  Los Cuatro Mares</a:t>
            </a:r>
            <a:endParaRPr lang="mul" sz="1200" b="0" u="none" strike="noStrike">
              <a:solidFill>
                <a:srgbClr val="000000"/>
              </a:solidFill>
              <a:effectLst/>
              <a:uFillTx/>
              <a:latin typeface="Arial"/>
            </a:endParaRPr>
          </a:p>
        </p:txBody>
      </p:sp>
      <p:sp>
        <p:nvSpPr>
          <p:cNvPr id="96" name="Rectangle 13"/>
          <p:cNvSpPr/>
          <p:nvPr/>
        </p:nvSpPr>
        <p:spPr>
          <a:xfrm>
            <a:off x="320040" y="2926080"/>
            <a:ext cx="4250160" cy="45540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97" name="Rectangle 14"/>
          <p:cNvSpPr/>
          <p:nvPr/>
        </p:nvSpPr>
        <p:spPr>
          <a:xfrm>
            <a:off x="320040" y="2926080"/>
            <a:ext cx="34920" cy="45540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98" name="TextBox 15"/>
          <p:cNvSpPr/>
          <p:nvPr/>
        </p:nvSpPr>
        <p:spPr>
          <a:xfrm>
            <a:off x="457200" y="2999160"/>
            <a:ext cx="402156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Acto 2  —  La Gran Corriente</a:t>
            </a:r>
            <a:endParaRPr lang="mul" sz="1200" b="0" u="none" strike="noStrike">
              <a:solidFill>
                <a:srgbClr val="000000"/>
              </a:solidFill>
              <a:effectLst/>
              <a:uFillTx/>
              <a:latin typeface="Arial"/>
            </a:endParaRPr>
          </a:p>
        </p:txBody>
      </p:sp>
      <p:sp>
        <p:nvSpPr>
          <p:cNvPr id="99" name="Rectangle 16"/>
          <p:cNvSpPr/>
          <p:nvPr/>
        </p:nvSpPr>
        <p:spPr>
          <a:xfrm>
            <a:off x="320040" y="3456360"/>
            <a:ext cx="4250160" cy="45540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00" name="Rectangle 17"/>
          <p:cNvSpPr/>
          <p:nvPr/>
        </p:nvSpPr>
        <p:spPr>
          <a:xfrm>
            <a:off x="320040" y="3456360"/>
            <a:ext cx="34920" cy="45540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01" name="TextBox 18"/>
          <p:cNvSpPr/>
          <p:nvPr/>
        </p:nvSpPr>
        <p:spPr>
          <a:xfrm>
            <a:off x="457200" y="3529440"/>
            <a:ext cx="402156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Acto 3  —  El Nuevo Mundo</a:t>
            </a:r>
            <a:endParaRPr lang="mul" sz="1200" b="0" u="none" strike="noStrike">
              <a:solidFill>
                <a:srgbClr val="000000"/>
              </a:solidFill>
              <a:effectLst/>
              <a:uFillTx/>
              <a:latin typeface="Arial"/>
            </a:endParaRPr>
          </a:p>
        </p:txBody>
      </p:sp>
      <p:sp>
        <p:nvSpPr>
          <p:cNvPr id="102" name="Rectangle 19"/>
          <p:cNvSpPr/>
          <p:nvPr/>
        </p:nvSpPr>
        <p:spPr>
          <a:xfrm>
            <a:off x="320040" y="3986640"/>
            <a:ext cx="4250160" cy="45540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03" name="Rectangle 20"/>
          <p:cNvSpPr/>
          <p:nvPr/>
        </p:nvSpPr>
        <p:spPr>
          <a:xfrm>
            <a:off x="320040" y="3986640"/>
            <a:ext cx="34920" cy="45540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04" name="TextBox 21"/>
          <p:cNvSpPr/>
          <p:nvPr/>
        </p:nvSpPr>
        <p:spPr>
          <a:xfrm>
            <a:off x="457200" y="4060080"/>
            <a:ext cx="402156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u="none" strike="noStrike">
                <a:solidFill>
                  <a:srgbClr val="E8EEF5"/>
                </a:solidFill>
                <a:effectLst/>
                <a:uFillTx/>
                <a:latin typeface="Calibri"/>
                <a:ea typeface="DejaVu Sans"/>
              </a:rPr>
              <a:t>Acto 4  —  Las Aguas del Fin</a:t>
            </a:r>
            <a:endParaRPr lang="mul" sz="1200" b="0" u="none" strike="noStrike">
              <a:solidFill>
                <a:srgbClr val="000000"/>
              </a:solidFill>
              <a:effectLst/>
              <a:uFillTx/>
              <a:latin typeface="Arial"/>
            </a:endParaRPr>
          </a:p>
        </p:txBody>
      </p:sp>
      <p:sp>
        <p:nvSpPr>
          <p:cNvPr id="105" name="Rectangle 22"/>
          <p:cNvSpPr/>
          <p:nvPr/>
        </p:nvSpPr>
        <p:spPr>
          <a:xfrm>
            <a:off x="320040" y="4590360"/>
            <a:ext cx="228420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06" name="TextBox 23"/>
          <p:cNvSpPr/>
          <p:nvPr/>
        </p:nvSpPr>
        <p:spPr>
          <a:xfrm>
            <a:off x="393120" y="4636080"/>
            <a:ext cx="219276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ESENCIAS DEL OCÉANO</a:t>
            </a:r>
            <a:endParaRPr lang="mul" sz="1000" b="0" u="none" strike="noStrike">
              <a:solidFill>
                <a:srgbClr val="000000"/>
              </a:solidFill>
              <a:effectLst/>
              <a:uFillTx/>
              <a:latin typeface="Arial"/>
            </a:endParaRPr>
          </a:p>
        </p:txBody>
      </p:sp>
      <p:sp>
        <p:nvSpPr>
          <p:cNvPr id="107" name="Rectangle 24"/>
          <p:cNvSpPr/>
          <p:nvPr/>
        </p:nvSpPr>
        <p:spPr>
          <a:xfrm>
            <a:off x="320040" y="5010840"/>
            <a:ext cx="958320" cy="501120"/>
          </a:xfrm>
          <a:prstGeom prst="rect">
            <a:avLst/>
          </a:prstGeom>
          <a:solidFill>
            <a:srgbClr val="C0392B"/>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08" name="TextBox 25"/>
          <p:cNvSpPr/>
          <p:nvPr/>
        </p:nvSpPr>
        <p:spPr>
          <a:xfrm>
            <a:off x="356760" y="5083920"/>
            <a:ext cx="88524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100" b="1" u="none" strike="noStrike">
                <a:solidFill>
                  <a:srgbClr val="FFFFFF"/>
                </a:solidFill>
                <a:effectLst/>
                <a:uFillTx/>
                <a:latin typeface="Calibri"/>
                <a:ea typeface="DejaVu Sans"/>
              </a:rPr>
              <a:t>Furia</a:t>
            </a:r>
            <a:endParaRPr lang="mul" sz="1100" b="0" u="none" strike="noStrike">
              <a:solidFill>
                <a:srgbClr val="000000"/>
              </a:solidFill>
              <a:effectLst/>
              <a:uFillTx/>
              <a:latin typeface="Arial"/>
            </a:endParaRPr>
          </a:p>
        </p:txBody>
      </p:sp>
      <p:sp>
        <p:nvSpPr>
          <p:cNvPr id="109" name="Rectangle 26"/>
          <p:cNvSpPr/>
          <p:nvPr/>
        </p:nvSpPr>
        <p:spPr>
          <a:xfrm>
            <a:off x="1371600" y="5010840"/>
            <a:ext cx="958320" cy="50112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10" name="TextBox 27"/>
          <p:cNvSpPr/>
          <p:nvPr/>
        </p:nvSpPr>
        <p:spPr>
          <a:xfrm>
            <a:off x="1408320" y="5083920"/>
            <a:ext cx="88524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100" b="1" u="none" strike="noStrike">
                <a:solidFill>
                  <a:srgbClr val="FFFFFF"/>
                </a:solidFill>
                <a:effectLst/>
                <a:uFillTx/>
                <a:latin typeface="Calibri"/>
                <a:ea typeface="DejaVu Sans"/>
              </a:rPr>
              <a:t>Coloso</a:t>
            </a:r>
            <a:endParaRPr lang="mul" sz="1100" b="0" u="none" strike="noStrike">
              <a:solidFill>
                <a:srgbClr val="000000"/>
              </a:solidFill>
              <a:effectLst/>
              <a:uFillTx/>
              <a:latin typeface="Arial"/>
            </a:endParaRPr>
          </a:p>
        </p:txBody>
      </p:sp>
      <p:sp>
        <p:nvSpPr>
          <p:cNvPr id="111" name="Rectangle 28"/>
          <p:cNvSpPr/>
          <p:nvPr/>
        </p:nvSpPr>
        <p:spPr>
          <a:xfrm>
            <a:off x="2423160" y="5010840"/>
            <a:ext cx="958320" cy="501120"/>
          </a:xfrm>
          <a:prstGeom prst="rect">
            <a:avLst/>
          </a:prstGeom>
          <a:solidFill>
            <a:srgbClr val="1A8A5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12" name="TextBox 29"/>
          <p:cNvSpPr/>
          <p:nvPr/>
        </p:nvSpPr>
        <p:spPr>
          <a:xfrm>
            <a:off x="2459880" y="5083920"/>
            <a:ext cx="88524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100" b="1" u="none" strike="noStrike">
                <a:solidFill>
                  <a:srgbClr val="FFFFFF"/>
                </a:solidFill>
                <a:effectLst/>
                <a:uFillTx/>
                <a:latin typeface="Calibri"/>
                <a:ea typeface="DejaVu Sans"/>
              </a:rPr>
              <a:t>Deriva</a:t>
            </a:r>
            <a:endParaRPr lang="mul" sz="1100" b="0" u="none" strike="noStrike">
              <a:solidFill>
                <a:srgbClr val="000000"/>
              </a:solidFill>
              <a:effectLst/>
              <a:uFillTx/>
              <a:latin typeface="Arial"/>
            </a:endParaRPr>
          </a:p>
        </p:txBody>
      </p:sp>
      <p:sp>
        <p:nvSpPr>
          <p:cNvPr id="113" name="Rectangle 30"/>
          <p:cNvSpPr/>
          <p:nvPr/>
        </p:nvSpPr>
        <p:spPr>
          <a:xfrm>
            <a:off x="3474720" y="5010840"/>
            <a:ext cx="958320" cy="501120"/>
          </a:xfrm>
          <a:prstGeom prst="rect">
            <a:avLst/>
          </a:prstGeom>
          <a:solidFill>
            <a:srgbClr val="7B2FBE"/>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14" name="TextBox 31"/>
          <p:cNvSpPr/>
          <p:nvPr/>
        </p:nvSpPr>
        <p:spPr>
          <a:xfrm>
            <a:off x="3511440" y="5083920"/>
            <a:ext cx="88524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100" b="1" u="none" strike="noStrike">
                <a:solidFill>
                  <a:srgbClr val="FFFFFF"/>
                </a:solidFill>
                <a:effectLst/>
                <a:uFillTx/>
                <a:latin typeface="Calibri"/>
                <a:ea typeface="DejaVu Sans"/>
              </a:rPr>
              <a:t>Dominación</a:t>
            </a:r>
            <a:endParaRPr lang="mul" sz="1100" b="0" u="none" strike="noStrike">
              <a:solidFill>
                <a:srgbClr val="000000"/>
              </a:solidFill>
              <a:effectLst/>
              <a:uFillTx/>
              <a:latin typeface="Arial"/>
            </a:endParaRPr>
          </a:p>
        </p:txBody>
      </p:sp>
      <p:sp>
        <p:nvSpPr>
          <p:cNvPr id="115" name="TextBox 32"/>
          <p:cNvSpPr/>
          <p:nvPr/>
        </p:nvSpPr>
        <p:spPr>
          <a:xfrm>
            <a:off x="320040" y="5669280"/>
            <a:ext cx="4250160" cy="425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i="1" u="none" strike="noStrike">
                <a:solidFill>
                  <a:srgbClr val="90A0B4"/>
                </a:solidFill>
                <a:effectLst/>
                <a:uFillTx/>
                <a:latin typeface="Calibri"/>
                <a:ea typeface="DejaVu Sans"/>
              </a:rPr>
              <a:t>Sesiones de 30-45 min  ·  generación procedimental  ·  ninguna partida igual</a:t>
            </a:r>
            <a:endParaRPr lang="mul"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17"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18"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119"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Mecánicas únicas: el diferenciador</a:t>
            </a:r>
            <a:endParaRPr lang="mul" sz="2600" b="0" u="none" strike="noStrike">
              <a:solidFill>
                <a:srgbClr val="000000"/>
              </a:solidFill>
              <a:effectLst/>
              <a:uFillTx/>
              <a:latin typeface="Arial"/>
            </a:endParaRPr>
          </a:p>
        </p:txBody>
      </p:sp>
      <p:sp>
        <p:nvSpPr>
          <p:cNvPr id="120"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Por que Crónicas del Log Pose no es un clon de Slay the Spire</a:t>
            </a:r>
            <a:endParaRPr lang="mul" sz="1300" b="0" u="none" strike="noStrike">
              <a:solidFill>
                <a:srgbClr val="000000"/>
              </a:solidFill>
              <a:effectLst/>
              <a:uFillTx/>
              <a:latin typeface="Arial"/>
            </a:endParaRPr>
          </a:p>
        </p:txBody>
      </p:sp>
      <p:sp>
        <p:nvSpPr>
          <p:cNvPr id="121" name="Rectangle 6"/>
          <p:cNvSpPr/>
          <p:nvPr/>
        </p:nvSpPr>
        <p:spPr>
          <a:xfrm>
            <a:off x="274320" y="1417320"/>
            <a:ext cx="4113000" cy="301572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22" name="Rectangle 7"/>
          <p:cNvSpPr/>
          <p:nvPr/>
        </p:nvSpPr>
        <p:spPr>
          <a:xfrm>
            <a:off x="274320" y="1417320"/>
            <a:ext cx="411300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123" name="TextBox 8"/>
          <p:cNvSpPr/>
          <p:nvPr/>
        </p:nvSpPr>
        <p:spPr>
          <a:xfrm>
            <a:off x="457200" y="1508760"/>
            <a:ext cx="3747240" cy="31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500" b="1" u="none" strike="noStrike">
                <a:solidFill>
                  <a:srgbClr val="C8A951"/>
                </a:solidFill>
                <a:effectLst/>
                <a:uFillTx/>
                <a:latin typeface="Calibri"/>
                <a:ea typeface="DejaVu Sans"/>
              </a:rPr>
              <a:t>Sistema Marea Dinámica</a:t>
            </a:r>
            <a:endParaRPr lang="mul" sz="1500" b="0" u="none" strike="noStrike">
              <a:solidFill>
                <a:srgbClr val="000000"/>
              </a:solidFill>
              <a:effectLst/>
              <a:uFillTx/>
              <a:latin typeface="Arial"/>
            </a:endParaRPr>
          </a:p>
        </p:txBody>
      </p:sp>
      <p:sp>
        <p:nvSpPr>
          <p:cNvPr id="124" name="TextBox 9"/>
          <p:cNvSpPr/>
          <p:nvPr/>
        </p:nvSpPr>
        <p:spPr>
          <a:xfrm>
            <a:off x="457200" y="198000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Modifica en tiempo real el coste y la eficacia</a:t>
            </a:r>
            <a:endParaRPr lang="mul" sz="1100" b="0" u="none" strike="noStrike">
              <a:solidFill>
                <a:srgbClr val="000000"/>
              </a:solidFill>
              <a:effectLst/>
              <a:uFillTx/>
              <a:latin typeface="Arial"/>
            </a:endParaRPr>
          </a:p>
        </p:txBody>
      </p:sp>
      <p:sp>
        <p:nvSpPr>
          <p:cNvPr id="125" name="TextBox 10"/>
          <p:cNvSpPr/>
          <p:nvPr/>
        </p:nvSpPr>
        <p:spPr>
          <a:xfrm>
            <a:off x="457200" y="223812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de las cartas según el estado de la batalla.</a:t>
            </a:r>
            <a:endParaRPr lang="mul" sz="1100" b="0" u="none" strike="noStrike">
              <a:solidFill>
                <a:srgbClr val="000000"/>
              </a:solidFill>
              <a:effectLst/>
              <a:uFillTx/>
              <a:latin typeface="Arial"/>
            </a:endParaRPr>
          </a:p>
        </p:txBody>
      </p:sp>
      <p:sp>
        <p:nvSpPr>
          <p:cNvPr id="126" name="TextBox 11"/>
          <p:cNvSpPr/>
          <p:nvPr/>
        </p:nvSpPr>
        <p:spPr>
          <a:xfrm>
            <a:off x="457200" y="2615040"/>
            <a:ext cx="3747240" cy="272520"/>
          </a:xfrm>
          <a:prstGeom prst="rect">
            <a:avLst/>
          </a:prstGeom>
          <a:noFill/>
          <a:ln w="0">
            <a:noFill/>
          </a:ln>
        </p:spPr>
        <p:style>
          <a:lnRef idx="0"/>
          <a:fillRef idx="0"/>
          <a:effectRef idx="0"/>
          <a:fontRef idx="minor"/>
        </p:style>
        <p:txBody>
          <a:bodyPr lIns="90000" tIns="45000" rIns="90000" bIns="45000" anchor="t">
            <a:spAutoFit/>
          </a:bodyPr>
          <a:p>
            <a:endParaRPr lang="es-ES" sz="1800" b="0" u="none" strike="noStrike">
              <a:solidFill>
                <a:srgbClr val="000000"/>
              </a:solidFill>
              <a:effectLst/>
              <a:uFillTx/>
              <a:latin typeface="Arial"/>
            </a:endParaRPr>
          </a:p>
        </p:txBody>
      </p:sp>
      <p:sp>
        <p:nvSpPr>
          <p:cNvPr id="127" name="TextBox 12"/>
          <p:cNvSpPr/>
          <p:nvPr/>
        </p:nvSpPr>
        <p:spPr>
          <a:xfrm>
            <a:off x="457200" y="261504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El estado de la marea cambia cada turno</a:t>
            </a:r>
            <a:endParaRPr lang="mul" sz="1100" b="0" u="none" strike="noStrike">
              <a:solidFill>
                <a:srgbClr val="000000"/>
              </a:solidFill>
              <a:effectLst/>
              <a:uFillTx/>
              <a:latin typeface="Arial"/>
            </a:endParaRPr>
          </a:p>
        </p:txBody>
      </p:sp>
      <p:sp>
        <p:nvSpPr>
          <p:cNvPr id="128" name="TextBox 13"/>
          <p:cNvSpPr/>
          <p:nvPr/>
        </p:nvSpPr>
        <p:spPr>
          <a:xfrm>
            <a:off x="457200" y="288900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entre cinco fases (Calma, Tormenta, Niebla,</a:t>
            </a:r>
            <a:endParaRPr lang="mul" sz="1100" b="0" u="none" strike="noStrike">
              <a:solidFill>
                <a:srgbClr val="000000"/>
              </a:solidFill>
              <a:effectLst/>
              <a:uFillTx/>
              <a:latin typeface="Arial"/>
            </a:endParaRPr>
          </a:p>
        </p:txBody>
      </p:sp>
      <p:sp>
        <p:nvSpPr>
          <p:cNvPr id="129" name="TextBox 14"/>
          <p:cNvSpPr/>
          <p:nvPr/>
        </p:nvSpPr>
        <p:spPr>
          <a:xfrm>
            <a:off x="457200" y="316296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Corriente y Luz Lunar), obligando al jugador</a:t>
            </a:r>
            <a:endParaRPr lang="mul" sz="1100" b="0" u="none" strike="noStrike">
              <a:solidFill>
                <a:srgbClr val="000000"/>
              </a:solidFill>
              <a:effectLst/>
              <a:uFillTx/>
              <a:latin typeface="Arial"/>
            </a:endParaRPr>
          </a:p>
        </p:txBody>
      </p:sp>
      <p:sp>
        <p:nvSpPr>
          <p:cNvPr id="130" name="TextBox 15"/>
          <p:cNvSpPr/>
          <p:nvPr/>
        </p:nvSpPr>
        <p:spPr>
          <a:xfrm>
            <a:off x="457200" y="343692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a adaptar su estrategia constantemente.</a:t>
            </a:r>
            <a:endParaRPr lang="mul" sz="1100" b="0" u="none" strike="noStrike">
              <a:solidFill>
                <a:srgbClr val="000000"/>
              </a:solidFill>
              <a:effectLst/>
              <a:uFillTx/>
              <a:latin typeface="Arial"/>
            </a:endParaRPr>
          </a:p>
        </p:txBody>
      </p:sp>
      <p:sp>
        <p:nvSpPr>
          <p:cNvPr id="131" name="TextBox 16"/>
          <p:cNvSpPr/>
          <p:nvPr/>
        </p:nvSpPr>
        <p:spPr>
          <a:xfrm>
            <a:off x="457200" y="3940920"/>
            <a:ext cx="3747240" cy="272520"/>
          </a:xfrm>
          <a:prstGeom prst="rect">
            <a:avLst/>
          </a:prstGeom>
          <a:noFill/>
          <a:ln w="0">
            <a:noFill/>
          </a:ln>
        </p:spPr>
        <p:style>
          <a:lnRef idx="0"/>
          <a:fillRef idx="0"/>
          <a:effectRef idx="0"/>
          <a:fontRef idx="minor"/>
        </p:style>
        <p:txBody>
          <a:bodyPr lIns="90000" tIns="45000" rIns="90000" bIns="45000" anchor="t">
            <a:spAutoFit/>
          </a:bodyPr>
          <a:p>
            <a:endParaRPr lang="es-ES" sz="1800" b="0" u="none" strike="noStrike">
              <a:solidFill>
                <a:srgbClr val="000000"/>
              </a:solidFill>
              <a:effectLst/>
              <a:uFillTx/>
              <a:latin typeface="Arial"/>
            </a:endParaRPr>
          </a:p>
        </p:txBody>
      </p:sp>
      <p:sp>
        <p:nvSpPr>
          <p:cNvPr id="132" name="TextBox 17"/>
          <p:cNvSpPr/>
          <p:nvPr/>
        </p:nvSpPr>
        <p:spPr>
          <a:xfrm>
            <a:off x="457200" y="371088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Implementado como Autoload (GameState)</a:t>
            </a:r>
            <a:endParaRPr lang="mul" sz="1100" b="0" u="none" strike="noStrike">
              <a:solidFill>
                <a:srgbClr val="000000"/>
              </a:solidFill>
              <a:effectLst/>
              <a:uFillTx/>
              <a:latin typeface="Arial"/>
            </a:endParaRPr>
          </a:p>
        </p:txBody>
      </p:sp>
      <p:sp>
        <p:nvSpPr>
          <p:cNvPr id="133" name="TextBox 18"/>
          <p:cNvSpPr/>
          <p:nvPr/>
        </p:nvSpPr>
        <p:spPr>
          <a:xfrm>
            <a:off x="457200" y="394092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que emite señales a los nodos suscriptores.</a:t>
            </a:r>
            <a:endParaRPr lang="mul" sz="1100" b="0" u="none" strike="noStrike">
              <a:solidFill>
                <a:srgbClr val="000000"/>
              </a:solidFill>
              <a:effectLst/>
              <a:uFillTx/>
              <a:latin typeface="Arial"/>
            </a:endParaRPr>
          </a:p>
        </p:txBody>
      </p:sp>
      <p:sp>
        <p:nvSpPr>
          <p:cNvPr id="134" name="Rectangle 19"/>
          <p:cNvSpPr/>
          <p:nvPr/>
        </p:nvSpPr>
        <p:spPr>
          <a:xfrm>
            <a:off x="4754880" y="1417320"/>
            <a:ext cx="4113000" cy="301572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35" name="Rectangle 20"/>
          <p:cNvSpPr/>
          <p:nvPr/>
        </p:nvSpPr>
        <p:spPr>
          <a:xfrm>
            <a:off x="4754880" y="1417320"/>
            <a:ext cx="4113000" cy="34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8280" rIns="90000" bIns="-8280" anchor="ctr">
            <a:noAutofit/>
          </a:bodyPr>
          <a:p>
            <a:endParaRPr lang="es-ES" sz="1800" b="0" u="none" strike="noStrike">
              <a:solidFill>
                <a:schemeClr val="lt1"/>
              </a:solidFill>
              <a:effectLst/>
              <a:uFillTx/>
              <a:latin typeface="Calibri"/>
            </a:endParaRPr>
          </a:p>
        </p:txBody>
      </p:sp>
      <p:sp>
        <p:nvSpPr>
          <p:cNvPr id="136" name="TextBox 21"/>
          <p:cNvSpPr/>
          <p:nvPr/>
        </p:nvSpPr>
        <p:spPr>
          <a:xfrm>
            <a:off x="4937760" y="1508760"/>
            <a:ext cx="3747240" cy="318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500" b="1" u="none" strike="noStrike">
                <a:solidFill>
                  <a:srgbClr val="C8A951"/>
                </a:solidFill>
                <a:effectLst/>
                <a:uFillTx/>
                <a:latin typeface="Calibri"/>
                <a:ea typeface="DejaVu Sans"/>
              </a:rPr>
              <a:t>Gestión de Tripulación</a:t>
            </a:r>
            <a:endParaRPr lang="mul" sz="1500" b="0" u="none" strike="noStrike">
              <a:solidFill>
                <a:srgbClr val="000000"/>
              </a:solidFill>
              <a:effectLst/>
              <a:uFillTx/>
              <a:latin typeface="Arial"/>
            </a:endParaRPr>
          </a:p>
        </p:txBody>
      </p:sp>
      <p:sp>
        <p:nvSpPr>
          <p:cNvPr id="137" name="TextBox 22"/>
          <p:cNvSpPr/>
          <p:nvPr/>
        </p:nvSpPr>
        <p:spPr>
          <a:xfrm>
            <a:off x="4937760" y="208476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Cada capitán tiene habilidades propias</a:t>
            </a:r>
            <a:endParaRPr lang="mul" sz="1100" b="0" u="none" strike="noStrike">
              <a:solidFill>
                <a:srgbClr val="000000"/>
              </a:solidFill>
              <a:effectLst/>
              <a:uFillTx/>
              <a:latin typeface="Arial"/>
            </a:endParaRPr>
          </a:p>
        </p:txBody>
      </p:sp>
      <p:sp>
        <p:nvSpPr>
          <p:cNvPr id="138" name="TextBox 23"/>
          <p:cNvSpPr/>
          <p:nvPr/>
        </p:nvSpPr>
        <p:spPr>
          <a:xfrm>
            <a:off x="4937760" y="235008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que se activan bajo condiciones especificas</a:t>
            </a:r>
            <a:endParaRPr lang="mul" sz="1100" b="0" u="none" strike="noStrike">
              <a:solidFill>
                <a:srgbClr val="000000"/>
              </a:solidFill>
              <a:effectLst/>
              <a:uFillTx/>
              <a:latin typeface="Arial"/>
            </a:endParaRPr>
          </a:p>
        </p:txBody>
      </p:sp>
      <p:sp>
        <p:nvSpPr>
          <p:cNvPr id="139" name="TextBox 24"/>
          <p:cNvSpPr/>
          <p:nvPr/>
        </p:nvSpPr>
        <p:spPr>
          <a:xfrm>
            <a:off x="4937760" y="261504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del estado de juego.</a:t>
            </a:r>
            <a:endParaRPr lang="mul" sz="1100" b="0" u="none" strike="noStrike">
              <a:solidFill>
                <a:srgbClr val="000000"/>
              </a:solidFill>
              <a:effectLst/>
              <a:uFillTx/>
              <a:latin typeface="Arial"/>
            </a:endParaRPr>
          </a:p>
        </p:txBody>
      </p:sp>
      <p:sp>
        <p:nvSpPr>
          <p:cNvPr id="140" name="TextBox 25"/>
          <p:cNvSpPr/>
          <p:nvPr/>
        </p:nvSpPr>
        <p:spPr>
          <a:xfrm>
            <a:off x="4937760" y="2880360"/>
            <a:ext cx="3747240" cy="272520"/>
          </a:xfrm>
          <a:prstGeom prst="rect">
            <a:avLst/>
          </a:prstGeom>
          <a:noFill/>
          <a:ln w="0">
            <a:noFill/>
          </a:ln>
        </p:spPr>
        <p:style>
          <a:lnRef idx="0"/>
          <a:fillRef idx="0"/>
          <a:effectRef idx="0"/>
          <a:fontRef idx="minor"/>
        </p:style>
        <p:txBody>
          <a:bodyPr lIns="90000" tIns="45000" rIns="90000" bIns="45000" anchor="t">
            <a:spAutoFit/>
          </a:bodyPr>
          <a:p>
            <a:endParaRPr lang="es-ES" sz="1800" b="0" u="none" strike="noStrike">
              <a:solidFill>
                <a:srgbClr val="000000"/>
              </a:solidFill>
              <a:effectLst/>
              <a:uFillTx/>
              <a:latin typeface="Arial"/>
            </a:endParaRPr>
          </a:p>
        </p:txBody>
      </p:sp>
      <p:sp>
        <p:nvSpPr>
          <p:cNvPr id="141" name="TextBox 26"/>
          <p:cNvSpPr/>
          <p:nvPr/>
        </p:nvSpPr>
        <p:spPr>
          <a:xfrm>
            <a:off x="4937760" y="296604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Ejemplos de Capitanes:</a:t>
            </a:r>
            <a:endParaRPr lang="mul" sz="1100" b="0" u="none" strike="noStrike">
              <a:solidFill>
                <a:srgbClr val="000000"/>
              </a:solidFill>
              <a:effectLst/>
              <a:uFillTx/>
              <a:latin typeface="Arial"/>
            </a:endParaRPr>
          </a:p>
        </p:txBody>
      </p:sp>
      <p:sp>
        <p:nvSpPr>
          <p:cNvPr id="142" name="TextBox 27"/>
          <p:cNvSpPr/>
          <p:nvPr/>
        </p:nvSpPr>
        <p:spPr>
          <a:xfrm>
            <a:off x="4937760" y="324000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  Petra — +3 bloqueo por turno</a:t>
            </a:r>
            <a:endParaRPr lang="mul" sz="1100" b="0" u="none" strike="noStrike">
              <a:solidFill>
                <a:srgbClr val="000000"/>
              </a:solidFill>
              <a:effectLst/>
              <a:uFillTx/>
              <a:latin typeface="Arial"/>
            </a:endParaRPr>
          </a:p>
        </p:txBody>
      </p:sp>
      <p:sp>
        <p:nvSpPr>
          <p:cNvPr id="143" name="TextBox 28"/>
          <p:cNvSpPr/>
          <p:nvPr/>
        </p:nvSpPr>
        <p:spPr>
          <a:xfrm>
            <a:off x="4937760" y="342000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  Kael — stun al recibir impacto (30%)</a:t>
            </a:r>
            <a:endParaRPr lang="mul" sz="1100" b="0" u="none" strike="noStrike">
              <a:solidFill>
                <a:srgbClr val="000000"/>
              </a:solidFill>
              <a:effectLst/>
              <a:uFillTx/>
              <a:latin typeface="Arial"/>
            </a:endParaRPr>
          </a:p>
        </p:txBody>
      </p:sp>
      <p:sp>
        <p:nvSpPr>
          <p:cNvPr id="144" name="TextBox 29"/>
          <p:cNvSpPr/>
          <p:nvPr/>
        </p:nvSpPr>
        <p:spPr>
          <a:xfrm>
            <a:off x="4860000" y="3701880"/>
            <a:ext cx="38250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Microsoft YaHei"/>
              </a:rPr>
              <a:t>  Lectura del Viento — +1 carta si Marea es distinta de Calma</a:t>
            </a:r>
            <a:endParaRPr lang="mul" sz="1100" b="0" u="none" strike="noStrike">
              <a:solidFill>
                <a:srgbClr val="000000"/>
              </a:solidFill>
              <a:effectLst/>
              <a:uFillTx/>
              <a:latin typeface="Arial"/>
            </a:endParaRPr>
          </a:p>
        </p:txBody>
      </p:sp>
      <p:sp>
        <p:nvSpPr>
          <p:cNvPr id="145" name="TextBox 30"/>
          <p:cNvSpPr/>
          <p:nvPr/>
        </p:nvSpPr>
        <p:spPr>
          <a:xfrm>
            <a:off x="4860000" y="396000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    </a:t>
            </a:r>
            <a:endParaRPr lang="mul" sz="1100" b="0" u="none" strike="noStrike">
              <a:solidFill>
                <a:srgbClr val="000000"/>
              </a:solidFill>
              <a:effectLst/>
              <a:uFillTx/>
              <a:latin typeface="Arial"/>
            </a:endParaRPr>
          </a:p>
        </p:txBody>
      </p:sp>
      <p:sp>
        <p:nvSpPr>
          <p:cNvPr id="146" name="TextBox 31"/>
          <p:cNvSpPr/>
          <p:nvPr/>
        </p:nvSpPr>
        <p:spPr>
          <a:xfrm>
            <a:off x="4937760" y="4471560"/>
            <a:ext cx="3747240" cy="272520"/>
          </a:xfrm>
          <a:prstGeom prst="rect">
            <a:avLst/>
          </a:prstGeom>
          <a:noFill/>
          <a:ln w="0">
            <a:noFill/>
          </a:ln>
        </p:spPr>
        <p:style>
          <a:lnRef idx="0"/>
          <a:fillRef idx="0"/>
          <a:effectRef idx="0"/>
          <a:fontRef idx="minor"/>
        </p:style>
        <p:txBody>
          <a:bodyPr lIns="90000" tIns="45000" rIns="90000" bIns="45000" anchor="t">
            <a:spAutoFit/>
          </a:bodyPr>
          <a:p>
            <a:endParaRPr lang="es-ES" sz="1800" b="0" u="none" strike="noStrike">
              <a:solidFill>
                <a:srgbClr val="000000"/>
              </a:solidFill>
              <a:effectLst/>
              <a:uFillTx/>
              <a:latin typeface="Arial"/>
            </a:endParaRPr>
          </a:p>
        </p:txBody>
      </p:sp>
      <p:sp>
        <p:nvSpPr>
          <p:cNvPr id="147" name="TextBox 32"/>
          <p:cNvSpPr/>
          <p:nvPr/>
        </p:nvSpPr>
        <p:spPr>
          <a:xfrm>
            <a:off x="4860000" y="4046040"/>
            <a:ext cx="374724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Genera sinergias únicas en cada partida.</a:t>
            </a:r>
            <a:endParaRPr lang="mul" sz="1100" b="0" u="none" strike="noStrike">
              <a:solidFill>
                <a:srgbClr val="000000"/>
              </a:solidFill>
              <a:effectLst/>
              <a:uFillTx/>
              <a:latin typeface="Arial"/>
            </a:endParaRPr>
          </a:p>
        </p:txBody>
      </p:sp>
      <p:sp>
        <p:nvSpPr>
          <p:cNvPr id="148" name="Rectangle 33"/>
          <p:cNvSpPr/>
          <p:nvPr/>
        </p:nvSpPr>
        <p:spPr>
          <a:xfrm>
            <a:off x="274320" y="4663440"/>
            <a:ext cx="8593560" cy="52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9720" rIns="90000" bIns="9720" anchor="ctr">
            <a:noAutofit/>
          </a:bodyPr>
          <a:p>
            <a:endParaRPr lang="es-ES" sz="1800" b="0" u="none" strike="noStrike">
              <a:solidFill>
                <a:schemeClr val="lt1"/>
              </a:solidFill>
              <a:effectLst/>
              <a:uFillTx/>
              <a:latin typeface="Calibri"/>
            </a:endParaRPr>
          </a:p>
        </p:txBody>
      </p:sp>
      <p:sp>
        <p:nvSpPr>
          <p:cNvPr id="149" name="TextBox 34"/>
          <p:cNvSpPr/>
          <p:nvPr/>
        </p:nvSpPr>
        <p:spPr>
          <a:xfrm>
            <a:off x="320040" y="4800600"/>
            <a:ext cx="25585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Competencia principal:</a:t>
            </a:r>
            <a:endParaRPr lang="mul" sz="1200" b="0" u="none" strike="noStrike">
              <a:solidFill>
                <a:srgbClr val="000000"/>
              </a:solidFill>
              <a:effectLst/>
              <a:uFillTx/>
              <a:latin typeface="Arial"/>
            </a:endParaRPr>
          </a:p>
        </p:txBody>
      </p:sp>
      <p:sp>
        <p:nvSpPr>
          <p:cNvPr id="150" name="TextBox 35"/>
          <p:cNvSpPr/>
          <p:nvPr/>
        </p:nvSpPr>
        <p:spPr>
          <a:xfrm>
            <a:off x="2926080" y="4800600"/>
            <a:ext cx="585036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0" i="1" u="none" strike="noStrike">
                <a:solidFill>
                  <a:srgbClr val="90A0B4"/>
                </a:solidFill>
                <a:effectLst/>
                <a:uFillTx/>
                <a:latin typeface="Calibri"/>
                <a:ea typeface="DejaVu Sans"/>
              </a:rPr>
              <a:t>Slay the Spire II · Balatro · Monster Train · Spellrogue</a:t>
            </a:r>
            <a:endParaRPr lang="mul" sz="1200" b="0" u="none" strike="noStrike">
              <a:solidFill>
                <a:srgbClr val="000000"/>
              </a:solidFill>
              <a:effectLst/>
              <a:uFillTx/>
              <a:latin typeface="Arial"/>
            </a:endParaRPr>
          </a:p>
        </p:txBody>
      </p:sp>
      <p:sp>
        <p:nvSpPr>
          <p:cNvPr id="151" name="TextBox 36"/>
          <p:cNvSpPr/>
          <p:nvPr/>
        </p:nvSpPr>
        <p:spPr>
          <a:xfrm>
            <a:off x="320040" y="5257800"/>
            <a:ext cx="85021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C8A951"/>
                </a:solidFill>
                <a:effectLst/>
                <a:uFillTx/>
                <a:latin typeface="Calibri"/>
                <a:ea typeface="DejaVu Sans"/>
              </a:rPr>
              <a:t>Nuestra ventaja: temática náutica de IP propia + interfaz táctil optimizada para móvil desde el primer día</a:t>
            </a:r>
            <a:endParaRPr lang="mul"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53"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54"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155"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Plan técnico y metodología de desarrollo</a:t>
            </a:r>
            <a:endParaRPr lang="mul" sz="2600" b="0" u="none" strike="noStrike">
              <a:solidFill>
                <a:srgbClr val="000000"/>
              </a:solidFill>
              <a:effectLst/>
              <a:uFillTx/>
              <a:latin typeface="Arial"/>
            </a:endParaRPr>
          </a:p>
        </p:txBody>
      </p:sp>
      <p:sp>
        <p:nvSpPr>
          <p:cNvPr id="156"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Godot Engine 4.6.2  ·  Scrum  ·  Sprints de 2 semanas</a:t>
            </a:r>
            <a:endParaRPr lang="mul" sz="1300" b="0" u="none" strike="noStrike">
              <a:solidFill>
                <a:srgbClr val="000000"/>
              </a:solidFill>
              <a:effectLst/>
              <a:uFillTx/>
              <a:latin typeface="Arial"/>
            </a:endParaRPr>
          </a:p>
        </p:txBody>
      </p:sp>
      <p:sp>
        <p:nvSpPr>
          <p:cNvPr id="157" name="Rectangle 6"/>
          <p:cNvSpPr/>
          <p:nvPr/>
        </p:nvSpPr>
        <p:spPr>
          <a:xfrm>
            <a:off x="320040" y="1417320"/>
            <a:ext cx="228420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58" name="TextBox 7"/>
          <p:cNvSpPr/>
          <p:nvPr/>
        </p:nvSpPr>
        <p:spPr>
          <a:xfrm>
            <a:off x="393120" y="1463040"/>
            <a:ext cx="219276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STACK TECNOLÓGICO</a:t>
            </a:r>
            <a:endParaRPr lang="mul" sz="1000" b="0" u="none" strike="noStrike">
              <a:solidFill>
                <a:srgbClr val="000000"/>
              </a:solidFill>
              <a:effectLst/>
              <a:uFillTx/>
              <a:latin typeface="Arial"/>
            </a:endParaRPr>
          </a:p>
        </p:txBody>
      </p:sp>
      <p:sp>
        <p:nvSpPr>
          <p:cNvPr id="159" name="Rectangle 8"/>
          <p:cNvSpPr/>
          <p:nvPr/>
        </p:nvSpPr>
        <p:spPr>
          <a:xfrm>
            <a:off x="320040" y="1874520"/>
            <a:ext cx="4113000" cy="5925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60" name="Rectangle 9"/>
          <p:cNvSpPr/>
          <p:nvPr/>
        </p:nvSpPr>
        <p:spPr>
          <a:xfrm>
            <a:off x="320040" y="1874520"/>
            <a:ext cx="34920" cy="5925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61" name="TextBox 10"/>
          <p:cNvSpPr/>
          <p:nvPr/>
        </p:nvSpPr>
        <p:spPr>
          <a:xfrm>
            <a:off x="457200" y="191124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Motor de juego</a:t>
            </a:r>
            <a:endParaRPr lang="mul" sz="1000" b="0" u="none" strike="noStrike">
              <a:solidFill>
                <a:srgbClr val="000000"/>
              </a:solidFill>
              <a:effectLst/>
              <a:uFillTx/>
              <a:latin typeface="Arial"/>
            </a:endParaRPr>
          </a:p>
        </p:txBody>
      </p:sp>
      <p:sp>
        <p:nvSpPr>
          <p:cNvPr id="162" name="TextBox 11"/>
          <p:cNvSpPr/>
          <p:nvPr/>
        </p:nvSpPr>
        <p:spPr>
          <a:xfrm>
            <a:off x="457200" y="216720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u="none" strike="noStrike">
                <a:solidFill>
                  <a:srgbClr val="E8EEF5"/>
                </a:solidFill>
                <a:effectLst/>
                <a:uFillTx/>
                <a:latin typeface="Calibri"/>
                <a:ea typeface="DejaVu Sans"/>
              </a:rPr>
              <a:t>Godot Engine 4.6.2  (libre y multiplataforma)</a:t>
            </a:r>
            <a:endParaRPr lang="mul" sz="1000" b="0" u="none" strike="noStrike">
              <a:solidFill>
                <a:srgbClr val="000000"/>
              </a:solidFill>
              <a:effectLst/>
              <a:uFillTx/>
              <a:latin typeface="Arial"/>
            </a:endParaRPr>
          </a:p>
        </p:txBody>
      </p:sp>
      <p:sp>
        <p:nvSpPr>
          <p:cNvPr id="163" name="Rectangle 12"/>
          <p:cNvSpPr/>
          <p:nvPr/>
        </p:nvSpPr>
        <p:spPr>
          <a:xfrm>
            <a:off x="320040" y="2560320"/>
            <a:ext cx="4113000" cy="5925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64" name="Rectangle 13"/>
          <p:cNvSpPr/>
          <p:nvPr/>
        </p:nvSpPr>
        <p:spPr>
          <a:xfrm>
            <a:off x="320040" y="2560320"/>
            <a:ext cx="34920" cy="5925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65" name="TextBox 14"/>
          <p:cNvSpPr/>
          <p:nvPr/>
        </p:nvSpPr>
        <p:spPr>
          <a:xfrm>
            <a:off x="457200" y="259704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Lenguaje principal</a:t>
            </a:r>
            <a:endParaRPr lang="mul" sz="1000" b="0" u="none" strike="noStrike">
              <a:solidFill>
                <a:srgbClr val="000000"/>
              </a:solidFill>
              <a:effectLst/>
              <a:uFillTx/>
              <a:latin typeface="Arial"/>
            </a:endParaRPr>
          </a:p>
        </p:txBody>
      </p:sp>
      <p:sp>
        <p:nvSpPr>
          <p:cNvPr id="166" name="TextBox 15"/>
          <p:cNvSpPr/>
          <p:nvPr/>
        </p:nvSpPr>
        <p:spPr>
          <a:xfrm>
            <a:off x="457200" y="285300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u="none" strike="noStrike">
                <a:solidFill>
                  <a:srgbClr val="E8EEF5"/>
                </a:solidFill>
                <a:effectLst/>
                <a:uFillTx/>
                <a:latin typeface="Calibri"/>
                <a:ea typeface="DejaVu Sans"/>
              </a:rPr>
              <a:t>GDScript  (basado en C# / .NET 8)</a:t>
            </a:r>
            <a:endParaRPr lang="mul" sz="1000" b="0" u="none" strike="noStrike">
              <a:solidFill>
                <a:srgbClr val="000000"/>
              </a:solidFill>
              <a:effectLst/>
              <a:uFillTx/>
              <a:latin typeface="Arial"/>
            </a:endParaRPr>
          </a:p>
        </p:txBody>
      </p:sp>
      <p:sp>
        <p:nvSpPr>
          <p:cNvPr id="167" name="Rectangle 16"/>
          <p:cNvSpPr/>
          <p:nvPr/>
        </p:nvSpPr>
        <p:spPr>
          <a:xfrm>
            <a:off x="320040" y="3246120"/>
            <a:ext cx="4113000" cy="5925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68" name="Rectangle 17"/>
          <p:cNvSpPr/>
          <p:nvPr/>
        </p:nvSpPr>
        <p:spPr>
          <a:xfrm>
            <a:off x="320040" y="3246120"/>
            <a:ext cx="34920" cy="5925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69" name="TextBox 18"/>
          <p:cNvSpPr/>
          <p:nvPr/>
        </p:nvSpPr>
        <p:spPr>
          <a:xfrm>
            <a:off x="457200" y="328284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Persistencia</a:t>
            </a:r>
            <a:endParaRPr lang="mul" sz="1000" b="0" u="none" strike="noStrike">
              <a:solidFill>
                <a:srgbClr val="000000"/>
              </a:solidFill>
              <a:effectLst/>
              <a:uFillTx/>
              <a:latin typeface="Arial"/>
            </a:endParaRPr>
          </a:p>
        </p:txBody>
      </p:sp>
      <p:sp>
        <p:nvSpPr>
          <p:cNvPr id="170" name="TextBox 19"/>
          <p:cNvSpPr/>
          <p:nvPr/>
        </p:nvSpPr>
        <p:spPr>
          <a:xfrm>
            <a:off x="457200" y="353880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u="none" strike="noStrike">
                <a:solidFill>
                  <a:srgbClr val="E8EEF5"/>
                </a:solidFill>
                <a:effectLst/>
                <a:uFillTx/>
                <a:latin typeface="Calibri"/>
                <a:ea typeface="DejaVu Sans"/>
              </a:rPr>
              <a:t>SQLite — serializado en JSON</a:t>
            </a:r>
            <a:endParaRPr lang="mul" sz="1000" b="0" u="none" strike="noStrike">
              <a:solidFill>
                <a:srgbClr val="000000"/>
              </a:solidFill>
              <a:effectLst/>
              <a:uFillTx/>
              <a:latin typeface="Arial"/>
            </a:endParaRPr>
          </a:p>
        </p:txBody>
      </p:sp>
      <p:sp>
        <p:nvSpPr>
          <p:cNvPr id="171" name="Rectangle 20"/>
          <p:cNvSpPr/>
          <p:nvPr/>
        </p:nvSpPr>
        <p:spPr>
          <a:xfrm>
            <a:off x="320040" y="3931920"/>
            <a:ext cx="4113000" cy="5925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72" name="Rectangle 21"/>
          <p:cNvSpPr/>
          <p:nvPr/>
        </p:nvSpPr>
        <p:spPr>
          <a:xfrm>
            <a:off x="320040" y="3931920"/>
            <a:ext cx="34920" cy="5925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73" name="TextBox 22"/>
          <p:cNvSpPr/>
          <p:nvPr/>
        </p:nvSpPr>
        <p:spPr>
          <a:xfrm>
            <a:off x="457200" y="396864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Control de versiones</a:t>
            </a:r>
            <a:endParaRPr lang="mul" sz="1000" b="0" u="none" strike="noStrike">
              <a:solidFill>
                <a:srgbClr val="000000"/>
              </a:solidFill>
              <a:effectLst/>
              <a:uFillTx/>
              <a:latin typeface="Arial"/>
            </a:endParaRPr>
          </a:p>
        </p:txBody>
      </p:sp>
      <p:sp>
        <p:nvSpPr>
          <p:cNvPr id="174" name="TextBox 23"/>
          <p:cNvSpPr/>
          <p:nvPr/>
        </p:nvSpPr>
        <p:spPr>
          <a:xfrm>
            <a:off x="457200" y="422460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u="none" strike="noStrike">
                <a:solidFill>
                  <a:srgbClr val="E8EEF5"/>
                </a:solidFill>
                <a:effectLst/>
                <a:uFillTx/>
                <a:latin typeface="Calibri"/>
                <a:ea typeface="DejaVu Sans"/>
              </a:rPr>
              <a:t>Git con Git LFS — metodología GitFlow</a:t>
            </a:r>
            <a:endParaRPr lang="mul" sz="1000" b="0" u="none" strike="noStrike">
              <a:solidFill>
                <a:srgbClr val="000000"/>
              </a:solidFill>
              <a:effectLst/>
              <a:uFillTx/>
              <a:latin typeface="Arial"/>
            </a:endParaRPr>
          </a:p>
        </p:txBody>
      </p:sp>
      <p:sp>
        <p:nvSpPr>
          <p:cNvPr id="175" name="Rectangle 24"/>
          <p:cNvSpPr/>
          <p:nvPr/>
        </p:nvSpPr>
        <p:spPr>
          <a:xfrm>
            <a:off x="320040" y="4617720"/>
            <a:ext cx="4113000" cy="5925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76" name="Rectangle 25"/>
          <p:cNvSpPr/>
          <p:nvPr/>
        </p:nvSpPr>
        <p:spPr>
          <a:xfrm>
            <a:off x="320040" y="4617720"/>
            <a:ext cx="34920" cy="5925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17640" tIns="45000" rIns="17640" bIns="45000" anchor="ctr">
            <a:noAutofit/>
          </a:bodyPr>
          <a:p>
            <a:endParaRPr lang="es-ES" sz="1800" b="0" u="none" strike="noStrike">
              <a:solidFill>
                <a:schemeClr val="lt1"/>
              </a:solidFill>
              <a:effectLst/>
              <a:uFillTx/>
              <a:latin typeface="Calibri"/>
            </a:endParaRPr>
          </a:p>
        </p:txBody>
      </p:sp>
      <p:sp>
        <p:nvSpPr>
          <p:cNvPr id="177" name="TextBox 26"/>
          <p:cNvSpPr/>
          <p:nvPr/>
        </p:nvSpPr>
        <p:spPr>
          <a:xfrm>
            <a:off x="457200" y="465444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C8A951"/>
                </a:solidFill>
                <a:effectLst/>
                <a:uFillTx/>
                <a:latin typeface="Calibri"/>
                <a:ea typeface="DejaVu Sans"/>
              </a:rPr>
              <a:t>Gestión del proyecto</a:t>
            </a:r>
            <a:endParaRPr lang="mul" sz="1000" b="0" u="none" strike="noStrike">
              <a:solidFill>
                <a:srgbClr val="000000"/>
              </a:solidFill>
              <a:effectLst/>
              <a:uFillTx/>
              <a:latin typeface="Arial"/>
            </a:endParaRPr>
          </a:p>
        </p:txBody>
      </p:sp>
      <p:sp>
        <p:nvSpPr>
          <p:cNvPr id="178" name="TextBox 27"/>
          <p:cNvSpPr/>
          <p:nvPr/>
        </p:nvSpPr>
        <p:spPr>
          <a:xfrm>
            <a:off x="457200" y="4910400"/>
            <a:ext cx="3930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u="none" strike="noStrike">
                <a:solidFill>
                  <a:srgbClr val="E8EEF5"/>
                </a:solidFill>
                <a:effectLst/>
                <a:uFillTx/>
                <a:latin typeface="Calibri"/>
                <a:ea typeface="DejaVu Sans"/>
              </a:rPr>
              <a:t>Jira + Daily Scrum 15 min + Sprint Review</a:t>
            </a:r>
            <a:endParaRPr lang="mul" sz="1000" b="0" u="none" strike="noStrike">
              <a:solidFill>
                <a:srgbClr val="000000"/>
              </a:solidFill>
              <a:effectLst/>
              <a:uFillTx/>
              <a:latin typeface="Arial"/>
            </a:endParaRPr>
          </a:p>
        </p:txBody>
      </p:sp>
      <p:sp>
        <p:nvSpPr>
          <p:cNvPr id="179" name="Rectangle 28"/>
          <p:cNvSpPr/>
          <p:nvPr/>
        </p:nvSpPr>
        <p:spPr>
          <a:xfrm>
            <a:off x="4572000" y="1417320"/>
            <a:ext cx="228420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80" name="TextBox 29"/>
          <p:cNvSpPr/>
          <p:nvPr/>
        </p:nvSpPr>
        <p:spPr>
          <a:xfrm>
            <a:off x="4645080" y="1463040"/>
            <a:ext cx="219276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FASES DEL PROYECTO</a:t>
            </a:r>
            <a:endParaRPr lang="mul" sz="1000" b="0" u="none" strike="noStrike">
              <a:solidFill>
                <a:srgbClr val="000000"/>
              </a:solidFill>
              <a:effectLst/>
              <a:uFillTx/>
              <a:latin typeface="Arial"/>
            </a:endParaRPr>
          </a:p>
        </p:txBody>
      </p:sp>
      <p:sp>
        <p:nvSpPr>
          <p:cNvPr id="181" name="Rectangle 30"/>
          <p:cNvSpPr/>
          <p:nvPr/>
        </p:nvSpPr>
        <p:spPr>
          <a:xfrm>
            <a:off x="4572000" y="1874520"/>
            <a:ext cx="4250160" cy="59256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82" name="TextBox 31"/>
          <p:cNvSpPr/>
          <p:nvPr/>
        </p:nvSpPr>
        <p:spPr>
          <a:xfrm>
            <a:off x="4709160" y="1965960"/>
            <a:ext cx="31986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Preproducción</a:t>
            </a:r>
            <a:endParaRPr lang="mul" sz="1200" b="0" u="none" strike="noStrike">
              <a:solidFill>
                <a:srgbClr val="000000"/>
              </a:solidFill>
              <a:effectLst/>
              <a:uFillTx/>
              <a:latin typeface="Arial"/>
            </a:endParaRPr>
          </a:p>
        </p:txBody>
      </p:sp>
      <p:sp>
        <p:nvSpPr>
          <p:cNvPr id="183" name="TextBox 32"/>
          <p:cNvSpPr/>
          <p:nvPr/>
        </p:nvSpPr>
        <p:spPr>
          <a:xfrm>
            <a:off x="7818120" y="2011680"/>
            <a:ext cx="91260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s-ES" sz="1200" b="1" u="none" strike="noStrike">
                <a:solidFill>
                  <a:srgbClr val="FFFFFF"/>
                </a:solidFill>
                <a:effectLst/>
                <a:uFillTx/>
                <a:latin typeface="Calibri"/>
                <a:ea typeface="DejaVu Sans"/>
              </a:rPr>
              <a:t>2 meses</a:t>
            </a:r>
            <a:endParaRPr lang="mul" sz="1200" b="0" u="none" strike="noStrike">
              <a:solidFill>
                <a:srgbClr val="000000"/>
              </a:solidFill>
              <a:effectLst/>
              <a:uFillTx/>
              <a:latin typeface="Arial"/>
            </a:endParaRPr>
          </a:p>
        </p:txBody>
      </p:sp>
      <p:sp>
        <p:nvSpPr>
          <p:cNvPr id="184" name="Rectangle 33"/>
          <p:cNvSpPr/>
          <p:nvPr/>
        </p:nvSpPr>
        <p:spPr>
          <a:xfrm>
            <a:off x="4572000" y="2560320"/>
            <a:ext cx="4250160" cy="592560"/>
          </a:xfrm>
          <a:prstGeom prst="rect">
            <a:avLst/>
          </a:prstGeom>
          <a:solidFill>
            <a:srgbClr val="156A90"/>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85" name="TextBox 34"/>
          <p:cNvSpPr/>
          <p:nvPr/>
        </p:nvSpPr>
        <p:spPr>
          <a:xfrm>
            <a:off x="4709160" y="2651760"/>
            <a:ext cx="31986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Prototipo / Vertical Slice</a:t>
            </a:r>
            <a:endParaRPr lang="mul" sz="1200" b="0" u="none" strike="noStrike">
              <a:solidFill>
                <a:srgbClr val="000000"/>
              </a:solidFill>
              <a:effectLst/>
              <a:uFillTx/>
              <a:latin typeface="Arial"/>
            </a:endParaRPr>
          </a:p>
        </p:txBody>
      </p:sp>
      <p:sp>
        <p:nvSpPr>
          <p:cNvPr id="186" name="TextBox 35"/>
          <p:cNvSpPr/>
          <p:nvPr/>
        </p:nvSpPr>
        <p:spPr>
          <a:xfrm>
            <a:off x="7818120" y="2697480"/>
            <a:ext cx="91260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s-ES" sz="1200" b="1" u="none" strike="noStrike">
                <a:solidFill>
                  <a:srgbClr val="FFFFFF"/>
                </a:solidFill>
                <a:effectLst/>
                <a:uFillTx/>
                <a:latin typeface="Calibri"/>
                <a:ea typeface="DejaVu Sans"/>
              </a:rPr>
              <a:t>3 meses</a:t>
            </a:r>
            <a:endParaRPr lang="mul" sz="1200" b="0" u="none" strike="noStrike">
              <a:solidFill>
                <a:srgbClr val="000000"/>
              </a:solidFill>
              <a:effectLst/>
              <a:uFillTx/>
              <a:latin typeface="Arial"/>
            </a:endParaRPr>
          </a:p>
        </p:txBody>
      </p:sp>
      <p:sp>
        <p:nvSpPr>
          <p:cNvPr id="187" name="Rectangle 36"/>
          <p:cNvSpPr/>
          <p:nvPr/>
        </p:nvSpPr>
        <p:spPr>
          <a:xfrm>
            <a:off x="4572000" y="3246120"/>
            <a:ext cx="4250160" cy="592560"/>
          </a:xfrm>
          <a:prstGeom prst="rect">
            <a:avLst/>
          </a:prstGeom>
          <a:solidFill>
            <a:srgbClr val="1A8A5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88" name="TextBox 37"/>
          <p:cNvSpPr/>
          <p:nvPr/>
        </p:nvSpPr>
        <p:spPr>
          <a:xfrm>
            <a:off x="4709160" y="3337560"/>
            <a:ext cx="31986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Alpha — La Gran Ruta</a:t>
            </a:r>
            <a:endParaRPr lang="mul" sz="1200" b="0" u="none" strike="noStrike">
              <a:solidFill>
                <a:srgbClr val="000000"/>
              </a:solidFill>
              <a:effectLst/>
              <a:uFillTx/>
              <a:latin typeface="Arial"/>
            </a:endParaRPr>
          </a:p>
        </p:txBody>
      </p:sp>
      <p:sp>
        <p:nvSpPr>
          <p:cNvPr id="189" name="TextBox 38"/>
          <p:cNvSpPr/>
          <p:nvPr/>
        </p:nvSpPr>
        <p:spPr>
          <a:xfrm>
            <a:off x="7818120" y="3383280"/>
            <a:ext cx="91260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s-ES" sz="1200" b="1" u="none" strike="noStrike">
                <a:solidFill>
                  <a:srgbClr val="FFFFFF"/>
                </a:solidFill>
                <a:effectLst/>
                <a:uFillTx/>
                <a:latin typeface="Calibri"/>
                <a:ea typeface="DejaVu Sans"/>
              </a:rPr>
              <a:t>6 meses</a:t>
            </a:r>
            <a:endParaRPr lang="mul" sz="1200" b="0" u="none" strike="noStrike">
              <a:solidFill>
                <a:srgbClr val="000000"/>
              </a:solidFill>
              <a:effectLst/>
              <a:uFillTx/>
              <a:latin typeface="Arial"/>
            </a:endParaRPr>
          </a:p>
        </p:txBody>
      </p:sp>
      <p:sp>
        <p:nvSpPr>
          <p:cNvPr id="190" name="Rectangle 39"/>
          <p:cNvSpPr/>
          <p:nvPr/>
        </p:nvSpPr>
        <p:spPr>
          <a:xfrm>
            <a:off x="4572000" y="3931920"/>
            <a:ext cx="4250160" cy="592560"/>
          </a:xfrm>
          <a:prstGeom prst="rect">
            <a:avLst/>
          </a:prstGeom>
          <a:solidFill>
            <a:srgbClr val="D46A14"/>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91" name="TextBox 40"/>
          <p:cNvSpPr/>
          <p:nvPr/>
        </p:nvSpPr>
        <p:spPr>
          <a:xfrm>
            <a:off x="4709160" y="4023360"/>
            <a:ext cx="31986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Beta — Haki de Armadura</a:t>
            </a:r>
            <a:endParaRPr lang="mul" sz="1200" b="0" u="none" strike="noStrike">
              <a:solidFill>
                <a:srgbClr val="000000"/>
              </a:solidFill>
              <a:effectLst/>
              <a:uFillTx/>
              <a:latin typeface="Arial"/>
            </a:endParaRPr>
          </a:p>
        </p:txBody>
      </p:sp>
      <p:sp>
        <p:nvSpPr>
          <p:cNvPr id="192" name="TextBox 41"/>
          <p:cNvSpPr/>
          <p:nvPr/>
        </p:nvSpPr>
        <p:spPr>
          <a:xfrm>
            <a:off x="7818120" y="4069080"/>
            <a:ext cx="91260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s-ES" sz="1200" b="1" u="none" strike="noStrike">
                <a:solidFill>
                  <a:srgbClr val="FFFFFF"/>
                </a:solidFill>
                <a:effectLst/>
                <a:uFillTx/>
                <a:latin typeface="Calibri"/>
                <a:ea typeface="DejaVu Sans"/>
              </a:rPr>
              <a:t>3 meses</a:t>
            </a:r>
            <a:endParaRPr lang="mul" sz="1200" b="0" u="none" strike="noStrike">
              <a:solidFill>
                <a:srgbClr val="000000"/>
              </a:solidFill>
              <a:effectLst/>
              <a:uFillTx/>
              <a:latin typeface="Arial"/>
            </a:endParaRPr>
          </a:p>
        </p:txBody>
      </p:sp>
      <p:sp>
        <p:nvSpPr>
          <p:cNvPr id="193" name="Rectangle 42"/>
          <p:cNvSpPr/>
          <p:nvPr/>
        </p:nvSpPr>
        <p:spPr>
          <a:xfrm>
            <a:off x="4572000" y="4617720"/>
            <a:ext cx="4250160" cy="592560"/>
          </a:xfrm>
          <a:prstGeom prst="rect">
            <a:avLst/>
          </a:prstGeom>
          <a:solidFill>
            <a:srgbClr val="C0392B"/>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94" name="TextBox 43"/>
          <p:cNvSpPr/>
          <p:nvPr/>
        </p:nvSpPr>
        <p:spPr>
          <a:xfrm>
            <a:off x="4709160" y="4709160"/>
            <a:ext cx="319860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FFFFFF"/>
                </a:solidFill>
                <a:effectLst/>
                <a:uFillTx/>
                <a:latin typeface="Calibri"/>
                <a:ea typeface="DejaVu Sans"/>
              </a:rPr>
              <a:t>Lanzamiento / Nuevo Mundo</a:t>
            </a:r>
            <a:endParaRPr lang="mul" sz="1200" b="0" u="none" strike="noStrike">
              <a:solidFill>
                <a:srgbClr val="000000"/>
              </a:solidFill>
              <a:effectLst/>
              <a:uFillTx/>
              <a:latin typeface="Arial"/>
            </a:endParaRPr>
          </a:p>
        </p:txBody>
      </p:sp>
      <p:sp>
        <p:nvSpPr>
          <p:cNvPr id="195" name="TextBox 44"/>
          <p:cNvSpPr/>
          <p:nvPr/>
        </p:nvSpPr>
        <p:spPr>
          <a:xfrm>
            <a:off x="7818120" y="4754880"/>
            <a:ext cx="912600" cy="27252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s-ES" sz="1200" b="1" u="none" strike="noStrike">
                <a:solidFill>
                  <a:srgbClr val="FFFFFF"/>
                </a:solidFill>
                <a:effectLst/>
                <a:uFillTx/>
                <a:latin typeface="Calibri"/>
                <a:ea typeface="DejaVu Sans"/>
              </a:rPr>
              <a:t>Día D</a:t>
            </a:r>
            <a:endParaRPr lang="mul" sz="1200" b="0" u="none" strike="noStrike">
              <a:solidFill>
                <a:srgbClr val="000000"/>
              </a:solidFill>
              <a:effectLst/>
              <a:uFillTx/>
              <a:latin typeface="Arial"/>
            </a:endParaRPr>
          </a:p>
        </p:txBody>
      </p:sp>
      <p:sp>
        <p:nvSpPr>
          <p:cNvPr id="196" name="Rectangle 45"/>
          <p:cNvSpPr/>
          <p:nvPr/>
        </p:nvSpPr>
        <p:spPr>
          <a:xfrm>
            <a:off x="320040" y="5440680"/>
            <a:ext cx="255852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197" name="TextBox 46"/>
          <p:cNvSpPr/>
          <p:nvPr/>
        </p:nvSpPr>
        <p:spPr>
          <a:xfrm>
            <a:off x="393120" y="5486400"/>
            <a:ext cx="246708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FLUJO DE TURNO DEL JUGADOR</a:t>
            </a:r>
            <a:endParaRPr lang="mul" sz="1000" b="0" u="none" strike="noStrike">
              <a:solidFill>
                <a:srgbClr val="000000"/>
              </a:solidFill>
              <a:effectLst/>
              <a:uFillTx/>
              <a:latin typeface="Arial"/>
            </a:endParaRPr>
          </a:p>
        </p:txBody>
      </p:sp>
      <p:pic>
        <p:nvPicPr>
          <p:cNvPr id="198" name="Picture 47" descr="100000010000020B0000030F0111AEF7.png"/>
          <p:cNvPicPr/>
          <p:nvPr/>
        </p:nvPicPr>
        <p:blipFill>
          <a:blip r:embed="rId1"/>
          <a:stretch/>
        </p:blipFill>
        <p:spPr>
          <a:xfrm>
            <a:off x="320040" y="5715000"/>
            <a:ext cx="669960" cy="1004040"/>
          </a:xfrm>
          <a:prstGeom prst="rect">
            <a:avLst/>
          </a:prstGeom>
          <a:noFill/>
          <a:ln w="0">
            <a:noFill/>
          </a:ln>
        </p:spPr>
      </p:pic>
      <p:sp>
        <p:nvSpPr>
          <p:cNvPr id="199" name="TextBox 48"/>
          <p:cNvSpPr/>
          <p:nvPr/>
        </p:nvSpPr>
        <p:spPr>
          <a:xfrm>
            <a:off x="3200400" y="6172200"/>
            <a:ext cx="5576040" cy="394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i="1" u="none" strike="noStrike">
                <a:solidFill>
                  <a:srgbClr val="90A0B4"/>
                </a:solidFill>
                <a:effectLst/>
                <a:uFillTx/>
                <a:latin typeface="Calibri"/>
                <a:ea typeface="DejaVu Sans"/>
              </a:rPr>
              <a:t>Infraestructura: 2 workstations (CPU 12-core, 32 GB RAM, GPU 8 GB VRAM)  ·  NAS 10 TB  ·  6 dispositivos móvil de prueba</a:t>
            </a:r>
            <a:endParaRPr lang="mul"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01"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02"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03"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Modelo de negocio</a:t>
            </a:r>
            <a:endParaRPr lang="mul" sz="2600" b="0" u="none" strike="noStrike">
              <a:solidFill>
                <a:srgbClr val="000000"/>
              </a:solidFill>
              <a:effectLst/>
              <a:uFillTx/>
              <a:latin typeface="Arial"/>
            </a:endParaRPr>
          </a:p>
        </p:txBody>
      </p:sp>
      <p:sp>
        <p:nvSpPr>
          <p:cNvPr id="204"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Múltiples fuentes de ingresos desde el lanzamiento</a:t>
            </a:r>
            <a:endParaRPr lang="mul" sz="1300" b="0" u="none" strike="noStrike">
              <a:solidFill>
                <a:srgbClr val="000000"/>
              </a:solidFill>
              <a:effectLst/>
              <a:uFillTx/>
              <a:latin typeface="Arial"/>
            </a:endParaRPr>
          </a:p>
        </p:txBody>
      </p:sp>
      <p:sp>
        <p:nvSpPr>
          <p:cNvPr id="205" name="Rectangle 6"/>
          <p:cNvSpPr/>
          <p:nvPr/>
        </p:nvSpPr>
        <p:spPr>
          <a:xfrm>
            <a:off x="320040" y="1417320"/>
            <a:ext cx="228420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06" name="TextBox 7"/>
          <p:cNvSpPr/>
          <p:nvPr/>
        </p:nvSpPr>
        <p:spPr>
          <a:xfrm>
            <a:off x="393120" y="1463040"/>
            <a:ext cx="219276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SEGMENTOS DE CLIENTES</a:t>
            </a:r>
            <a:endParaRPr lang="mul" sz="1000" b="0" u="none" strike="noStrike">
              <a:solidFill>
                <a:srgbClr val="000000"/>
              </a:solidFill>
              <a:effectLst/>
              <a:uFillTx/>
              <a:latin typeface="Arial"/>
            </a:endParaRPr>
          </a:p>
        </p:txBody>
      </p:sp>
      <p:sp>
        <p:nvSpPr>
          <p:cNvPr id="207" name="Rectangle 8"/>
          <p:cNvSpPr/>
          <p:nvPr/>
        </p:nvSpPr>
        <p:spPr>
          <a:xfrm>
            <a:off x="320040" y="1828800"/>
            <a:ext cx="272520" cy="3823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08" name="TextBox 9"/>
          <p:cNvSpPr/>
          <p:nvPr/>
        </p:nvSpPr>
        <p:spPr>
          <a:xfrm>
            <a:off x="685800" y="1865520"/>
            <a:ext cx="82278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Jugadores de PC (Steam, Windows/Linux)  —  18-35 anos, aficionados al genero roguelike y deckbuilder</a:t>
            </a:r>
            <a:endParaRPr lang="mul" sz="1100" b="0" u="none" strike="noStrike">
              <a:solidFill>
                <a:srgbClr val="000000"/>
              </a:solidFill>
              <a:effectLst/>
              <a:uFillTx/>
              <a:latin typeface="Arial"/>
            </a:endParaRPr>
          </a:p>
        </p:txBody>
      </p:sp>
      <p:sp>
        <p:nvSpPr>
          <p:cNvPr id="209" name="Rectangle 10"/>
          <p:cNvSpPr/>
          <p:nvPr/>
        </p:nvSpPr>
        <p:spPr>
          <a:xfrm>
            <a:off x="320040" y="2313360"/>
            <a:ext cx="272520" cy="3823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0" name="TextBox 11"/>
          <p:cNvSpPr/>
          <p:nvPr/>
        </p:nvSpPr>
        <p:spPr>
          <a:xfrm>
            <a:off x="685800" y="2350080"/>
            <a:ext cx="82278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Jugadores móvil (Android e iOS)  —  mercados de Europa, Norteamérica y Asia-Pacifico</a:t>
            </a:r>
            <a:endParaRPr lang="mul" sz="1100" b="0" u="none" strike="noStrike">
              <a:solidFill>
                <a:srgbClr val="000000"/>
              </a:solidFill>
              <a:effectLst/>
              <a:uFillTx/>
              <a:latin typeface="Arial"/>
            </a:endParaRPr>
          </a:p>
        </p:txBody>
      </p:sp>
      <p:sp>
        <p:nvSpPr>
          <p:cNvPr id="211" name="Rectangle 12"/>
          <p:cNvSpPr/>
          <p:nvPr/>
        </p:nvSpPr>
        <p:spPr>
          <a:xfrm>
            <a:off x="320040" y="2797920"/>
            <a:ext cx="272520" cy="3823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2" name="TextBox 13"/>
          <p:cNvSpPr/>
          <p:nvPr/>
        </p:nvSpPr>
        <p:spPr>
          <a:xfrm>
            <a:off x="685800" y="2834640"/>
            <a:ext cx="82278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E8EEF5"/>
                </a:solidFill>
                <a:effectLst/>
                <a:uFillTx/>
                <a:latin typeface="Calibri"/>
                <a:ea typeface="DejaVu Sans"/>
              </a:rPr>
              <a:t>Microinfluencers y streamers del sector indie  —  canal de prescripción orgánica</a:t>
            </a:r>
            <a:endParaRPr lang="mul" sz="1100" b="0" u="none" strike="noStrike">
              <a:solidFill>
                <a:srgbClr val="000000"/>
              </a:solidFill>
              <a:effectLst/>
              <a:uFillTx/>
              <a:latin typeface="Arial"/>
            </a:endParaRPr>
          </a:p>
        </p:txBody>
      </p:sp>
      <p:sp>
        <p:nvSpPr>
          <p:cNvPr id="213" name="Rectangle 14"/>
          <p:cNvSpPr/>
          <p:nvPr/>
        </p:nvSpPr>
        <p:spPr>
          <a:xfrm>
            <a:off x="320040" y="3240000"/>
            <a:ext cx="210132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4" name="TextBox 15"/>
          <p:cNvSpPr/>
          <p:nvPr/>
        </p:nvSpPr>
        <p:spPr>
          <a:xfrm>
            <a:off x="411480" y="3240000"/>
            <a:ext cx="200988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FUENTES DE INGRESOS</a:t>
            </a:r>
            <a:endParaRPr lang="mul" sz="1000" b="0" u="none" strike="noStrike">
              <a:solidFill>
                <a:srgbClr val="000000"/>
              </a:solidFill>
              <a:effectLst/>
              <a:uFillTx/>
              <a:latin typeface="Arial"/>
            </a:endParaRPr>
          </a:p>
        </p:txBody>
      </p:sp>
      <p:graphicFrame>
        <p:nvGraphicFramePr>
          <p:cNvPr id="215" name="Table 16"/>
          <p:cNvGraphicFramePr/>
          <p:nvPr/>
        </p:nvGraphicFramePr>
        <p:xfrm>
          <a:off x="336240" y="3628440"/>
          <a:ext cx="8503560" cy="2010600"/>
        </p:xfrm>
        <a:graphic>
          <a:graphicData uri="http://schemas.openxmlformats.org/drawingml/2006/table">
            <a:tbl>
              <a:tblPr/>
              <a:tblGrid>
                <a:gridCol w="2194560"/>
                <a:gridCol w="4160520"/>
                <a:gridCol w="2148840"/>
              </a:tblGrid>
              <a:tr h="402120">
                <a:tc>
                  <a:txBody>
                    <a:bodyPr anchor="t">
                      <a:noAutofit/>
                    </a:bodyPr>
                    <a:p>
                      <a:pPr defTabSz="457200">
                        <a:lnSpc>
                          <a:spcPct val="100000"/>
                        </a:lnSpc>
                      </a:pPr>
                      <a:r>
                        <a:rPr lang="es-ES" sz="1200" b="1" u="none" strike="noStrike">
                          <a:solidFill>
                            <a:srgbClr val="FFFFFF"/>
                          </a:solidFill>
                          <a:effectLst/>
                          <a:uFillTx/>
                          <a:latin typeface="Calibri"/>
                        </a:rPr>
                        <a:t>Fuente</a:t>
                      </a:r>
                      <a:endParaRPr lang="mul"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c>
                  <a:txBody>
                    <a:bodyPr anchor="t">
                      <a:noAutofit/>
                    </a:bodyPr>
                    <a:p>
                      <a:pPr defTabSz="457200">
                        <a:lnSpc>
                          <a:spcPct val="100000"/>
                        </a:lnSpc>
                      </a:pPr>
                      <a:r>
                        <a:rPr lang="en-US" sz="1200" b="1" u="none" strike="noStrike">
                          <a:solidFill>
                            <a:srgbClr val="FFFFFF"/>
                          </a:solidFill>
                          <a:effectLst/>
                          <a:uFillTx/>
                          <a:latin typeface="Calibri"/>
                        </a:rPr>
                        <a:t>Description</a:t>
                      </a:r>
                      <a:endParaRPr lang="mul"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c>
                  <a:txBody>
                    <a:bodyPr anchor="t">
                      <a:noAutofit/>
                    </a:bodyPr>
                    <a:p>
                      <a:pPr defTabSz="457200">
                        <a:lnSpc>
                          <a:spcPct val="100000"/>
                        </a:lnSpc>
                      </a:pPr>
                      <a:r>
                        <a:rPr lang="en-US" sz="1200" b="1" u="none" strike="noStrike">
                          <a:solidFill>
                            <a:srgbClr val="FFFFFF"/>
                          </a:solidFill>
                          <a:effectLst/>
                          <a:uFillTx/>
                          <a:latin typeface="Calibri"/>
                        </a:rPr>
                        <a:t>Estimation</a:t>
                      </a:r>
                      <a:endParaRPr lang="mul"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r>
              <a:tr h="402120">
                <a:tc>
                  <a:txBody>
                    <a:bodyPr anchor="t">
                      <a:noAutofit/>
                    </a:bodyPr>
                    <a:p>
                      <a:pPr defTabSz="457200">
                        <a:lnSpc>
                          <a:spcPct val="100000"/>
                        </a:lnSpc>
                      </a:pPr>
                      <a:r>
                        <a:rPr lang="es-ES" sz="1100" b="0" u="none" strike="noStrike">
                          <a:solidFill>
                            <a:srgbClr val="FFFFFF"/>
                          </a:solidFill>
                          <a:effectLst/>
                          <a:uFillTx/>
                          <a:latin typeface="Calibri"/>
                        </a:rPr>
                        <a:t>Venta</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directa</a:t>
                      </a:r>
                      <a:r>
                        <a:rPr lang="en-US" sz="1100" b="0" u="none" strike="noStrike">
                          <a:solidFill>
                            <a:srgbClr val="FFFFFF"/>
                          </a:solidFill>
                          <a:effectLst/>
                          <a:uFillTx/>
                          <a:latin typeface="Calibri"/>
                        </a:rPr>
                        <a:t> PC (Steam)</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s-ES" sz="1100" b="0" u="none" strike="noStrike">
                          <a:solidFill>
                            <a:srgbClr val="FFFFFF"/>
                          </a:solidFill>
                          <a:effectLst/>
                          <a:uFillTx/>
                          <a:latin typeface="Calibri"/>
                        </a:rPr>
                        <a:t>Precio</a:t>
                      </a:r>
                      <a:r>
                        <a:rPr lang="en-US" sz="1100" b="0" u="none" strike="noStrike">
                          <a:solidFill>
                            <a:srgbClr val="FFFFFF"/>
                          </a:solidFill>
                          <a:effectLst/>
                          <a:uFillTx/>
                          <a:latin typeface="Calibri"/>
                        </a:rPr>
                        <a:t> base 12 EUR, </a:t>
                      </a:r>
                      <a:r>
                        <a:rPr lang="es-ES" sz="1100" b="0" u="none" strike="noStrike">
                          <a:solidFill>
                            <a:srgbClr val="FFFFFF"/>
                          </a:solidFill>
                          <a:effectLst/>
                          <a:uFillTx/>
                          <a:latin typeface="Calibri"/>
                        </a:rPr>
                        <a:t>comisión</a:t>
                      </a:r>
                      <a:r>
                        <a:rPr lang="en-US" sz="1100" b="0" u="none" strike="noStrike">
                          <a:solidFill>
                            <a:srgbClr val="FFFFFF"/>
                          </a:solidFill>
                          <a:effectLst/>
                          <a:uFillTx/>
                          <a:latin typeface="Calibri"/>
                        </a:rPr>
                        <a:t> Steam 30%</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s-ES" sz="1100" b="0" u="none" strike="noStrike">
                          <a:solidFill>
                            <a:srgbClr val="FFFFFF"/>
                          </a:solidFill>
                          <a:effectLst/>
                          <a:uFillTx/>
                          <a:latin typeface="Calibri"/>
                        </a:rPr>
                        <a:t>Ingreso</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neto</a:t>
                      </a:r>
                      <a:r>
                        <a:rPr lang="en-US" sz="1100" b="0" u="none" strike="noStrike">
                          <a:solidFill>
                            <a:srgbClr val="FFFFFF"/>
                          </a:solidFill>
                          <a:effectLst/>
                          <a:uFillTx/>
                          <a:latin typeface="Calibri"/>
                        </a:rPr>
                        <a:t>: ~8,40 EUR/ud.</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402120">
                <a:tc>
                  <a:txBody>
                    <a:bodyPr anchor="t">
                      <a:noAutofit/>
                    </a:bodyPr>
                    <a:p>
                      <a:pPr defTabSz="457200">
                        <a:lnSpc>
                          <a:spcPct val="100000"/>
                        </a:lnSpc>
                      </a:pPr>
                      <a:r>
                        <a:rPr lang="en-US" sz="1100" b="0" u="none" strike="noStrike">
                          <a:solidFill>
                            <a:srgbClr val="FFFFFF"/>
                          </a:solidFill>
                          <a:effectLst/>
                          <a:uFillTx/>
                          <a:latin typeface="Calibri"/>
                        </a:rPr>
                        <a:t>Venta directa </a:t>
                      </a:r>
                      <a:r>
                        <a:rPr lang="es-ES" sz="1100" b="0" u="none" strike="noStrike">
                          <a:solidFill>
                            <a:srgbClr val="FFFFFF"/>
                          </a:solidFill>
                          <a:effectLst/>
                          <a:uFillTx/>
                          <a:latin typeface="Calibri"/>
                        </a:rPr>
                        <a:t>Móvil</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s-ES" sz="1100" b="0" u="none" strike="noStrike">
                          <a:solidFill>
                            <a:srgbClr val="FFFFFF"/>
                          </a:solidFill>
                          <a:effectLst/>
                          <a:uFillTx/>
                          <a:latin typeface="Calibri"/>
                        </a:rPr>
                        <a:t>Precio</a:t>
                      </a:r>
                      <a:r>
                        <a:rPr lang="en-US" sz="1100" b="0" u="none" strike="noStrike">
                          <a:solidFill>
                            <a:srgbClr val="FFFFFF"/>
                          </a:solidFill>
                          <a:effectLst/>
                          <a:uFillTx/>
                          <a:latin typeface="Calibri"/>
                        </a:rPr>
                        <a:t> base 4,99 EUR, </a:t>
                      </a:r>
                      <a:r>
                        <a:rPr lang="es-ES" sz="1100" b="0" u="none" strike="noStrike">
                          <a:solidFill>
                            <a:srgbClr val="FFFFFF"/>
                          </a:solidFill>
                          <a:effectLst/>
                          <a:uFillTx/>
                          <a:latin typeface="Calibri"/>
                        </a:rPr>
                        <a:t>comisión</a:t>
                      </a:r>
                      <a:r>
                        <a:rPr lang="en-US" sz="1100" b="0" u="none" strike="noStrike">
                          <a:solidFill>
                            <a:srgbClr val="FFFFFF"/>
                          </a:solidFill>
                          <a:effectLst/>
                          <a:uFillTx/>
                          <a:latin typeface="Calibri"/>
                        </a:rPr>
                        <a:t> 15-30%</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s-ES" sz="1100" b="0" u="none" strike="noStrike">
                          <a:solidFill>
                            <a:srgbClr val="FFFFFF"/>
                          </a:solidFill>
                          <a:effectLst/>
                          <a:uFillTx/>
                          <a:latin typeface="Calibri"/>
                        </a:rPr>
                        <a:t>Ingreso</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neto</a:t>
                      </a:r>
                      <a:r>
                        <a:rPr lang="en-US" sz="1100" b="0" u="none" strike="noStrike">
                          <a:solidFill>
                            <a:srgbClr val="FFFFFF"/>
                          </a:solidFill>
                          <a:effectLst/>
                          <a:uFillTx/>
                          <a:latin typeface="Calibri"/>
                        </a:rPr>
                        <a:t>: ~3,50-4,25 EUR/ud.</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r h="402120">
                <a:tc>
                  <a:txBody>
                    <a:bodyPr anchor="t">
                      <a:noAutofit/>
                    </a:bodyPr>
                    <a:p>
                      <a:pPr defTabSz="457200">
                        <a:lnSpc>
                          <a:spcPct val="100000"/>
                        </a:lnSpc>
                      </a:pPr>
                      <a:r>
                        <a:rPr lang="en-US" sz="1100" b="0" u="none" strike="noStrike">
                          <a:solidFill>
                            <a:srgbClr val="FFFFFF"/>
                          </a:solidFill>
                          <a:effectLst/>
                          <a:uFillTx/>
                          <a:latin typeface="Calibri"/>
                        </a:rPr>
                        <a:t>DLC y </a:t>
                      </a:r>
                      <a:r>
                        <a:rPr lang="es-ES" sz="1100" b="0" u="none" strike="noStrike">
                          <a:solidFill>
                            <a:srgbClr val="FFFFFF"/>
                          </a:solidFill>
                          <a:effectLst/>
                          <a:uFillTx/>
                          <a:latin typeface="Calibri"/>
                        </a:rPr>
                        <a:t>expansiones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s-ES" sz="1100" b="0" u="none" strike="noStrike">
                          <a:solidFill>
                            <a:srgbClr val="FFFFFF"/>
                          </a:solidFill>
                          <a:effectLst/>
                          <a:uFillTx/>
                          <a:latin typeface="Calibri"/>
                        </a:rPr>
                        <a:t>Contenido extra (nuevos actos, mazos) — desde ano 2</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100" b="0" u="none" strike="noStrike">
                          <a:solidFill>
                            <a:srgbClr val="FFFFFF"/>
                          </a:solidFill>
                          <a:effectLst/>
                          <a:uFillTx/>
                          <a:latin typeface="Calibri"/>
                        </a:rPr>
                        <a:t>3-5 EUR </a:t>
                      </a:r>
                      <a:r>
                        <a:rPr lang="es-ES" sz="1100" b="0" u="none" strike="noStrike">
                          <a:solidFill>
                            <a:srgbClr val="FFFFFF"/>
                          </a:solidFill>
                          <a:effectLst/>
                          <a:uFillTx/>
                          <a:latin typeface="Calibri"/>
                        </a:rPr>
                        <a:t>por</a:t>
                      </a:r>
                      <a:r>
                        <a:rPr lang="en-US" sz="1100" b="0" u="none" strike="noStrike">
                          <a:solidFill>
                            <a:srgbClr val="FFFFFF"/>
                          </a:solidFill>
                          <a:effectLst/>
                          <a:uFillTx/>
                          <a:latin typeface="Calibri"/>
                        </a:rPr>
                        <a:t> pack</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402120">
                <a:tc>
                  <a:txBody>
                    <a:bodyPr anchor="t">
                      <a:noAutofit/>
                    </a:bodyPr>
                    <a:p>
                      <a:pPr defTabSz="457200">
                        <a:lnSpc>
                          <a:spcPct val="100000"/>
                        </a:lnSpc>
                      </a:pPr>
                      <a:r>
                        <a:rPr lang="es-ES" sz="1100" b="0" u="none" strike="noStrike">
                          <a:solidFill>
                            <a:srgbClr val="FFFFFF"/>
                          </a:solidFill>
                          <a:effectLst/>
                          <a:uFillTx/>
                          <a:latin typeface="Calibri"/>
                        </a:rPr>
                        <a:t>Cosméticos</a:t>
                      </a:r>
                      <a:r>
                        <a:rPr lang="en-US" sz="1100" b="0" u="none" strike="noStrike">
                          <a:solidFill>
                            <a:srgbClr val="FFFFFF"/>
                          </a:solidFill>
                          <a:effectLst/>
                          <a:uFillTx/>
                          <a:latin typeface="Calibri"/>
                        </a:rPr>
                        <a:t> </a:t>
                      </a:r>
                      <a:r>
                        <a:rPr lang="es-ES" sz="1100" b="0" u="none" strike="noStrike">
                          <a:solidFill>
                            <a:srgbClr val="FFFFFF"/>
                          </a:solidFill>
                          <a:effectLst/>
                          <a:uFillTx/>
                          <a:latin typeface="Calibri"/>
                        </a:rPr>
                        <a:t>opcionales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100" b="0" u="none" strike="noStrike">
                          <a:solidFill>
                            <a:srgbClr val="FFFFFF"/>
                          </a:solidFill>
                          <a:effectLst/>
                          <a:uFillTx/>
                          <a:latin typeface="Calibri"/>
                        </a:rPr>
                        <a:t>Skins de </a:t>
                      </a:r>
                      <a:r>
                        <a:rPr lang="es-ES" sz="1100" b="0" u="none" strike="noStrike">
                          <a:solidFill>
                            <a:srgbClr val="FFFFFF"/>
                          </a:solidFill>
                          <a:effectLst/>
                          <a:uFillTx/>
                          <a:latin typeface="Calibri"/>
                        </a:rPr>
                        <a:t>cartas</a:t>
                      </a:r>
                      <a:r>
                        <a:rPr lang="en-US" sz="1100" b="0" u="none" strike="noStrike">
                          <a:solidFill>
                            <a:srgbClr val="FFFFFF"/>
                          </a:solidFill>
                          <a:effectLst/>
                          <a:uFillTx/>
                          <a:latin typeface="Calibri"/>
                        </a:rPr>
                        <a:t> y </a:t>
                      </a:r>
                      <a:r>
                        <a:rPr lang="es-ES" sz="1100" b="0" u="none" strike="noStrike">
                          <a:solidFill>
                            <a:srgbClr val="FFFFFF"/>
                          </a:solidFill>
                          <a:effectLst/>
                          <a:uFillTx/>
                          <a:latin typeface="Calibri"/>
                        </a:rPr>
                        <a:t>marcos</a:t>
                      </a:r>
                      <a:r>
                        <a:rPr lang="en-US" sz="1100" b="0" u="none" strike="noStrike">
                          <a:solidFill>
                            <a:srgbClr val="FFFFFF"/>
                          </a:solidFill>
                          <a:effectLst/>
                          <a:uFillTx/>
                          <a:latin typeface="Calibri"/>
                        </a:rPr>
                        <a:t> de </a:t>
                      </a:r>
                      <a:r>
                        <a:rPr lang="es-ES" sz="1100" b="0" u="none" strike="noStrike">
                          <a:solidFill>
                            <a:srgbClr val="FFFFFF"/>
                          </a:solidFill>
                          <a:effectLst/>
                          <a:uFillTx/>
                          <a:latin typeface="Calibri"/>
                        </a:rPr>
                        <a:t>perfil</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100" b="0" u="none" strike="noStrike">
                          <a:solidFill>
                            <a:srgbClr val="FFFFFF"/>
                          </a:solidFill>
                          <a:effectLst/>
                          <a:uFillTx/>
                          <a:latin typeface="Calibri"/>
                        </a:rPr>
                        <a:t>0,99-2,99 EUR</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bl>
          </a:graphicData>
        </a:graphic>
      </p:graphicFrame>
      <p:sp>
        <p:nvSpPr>
          <p:cNvPr id="216" name="TextBox 17"/>
          <p:cNvSpPr/>
          <p:nvPr/>
        </p:nvSpPr>
        <p:spPr>
          <a:xfrm>
            <a:off x="316800" y="5760000"/>
            <a:ext cx="850212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200" b="1" u="none" strike="noStrike">
                <a:solidFill>
                  <a:srgbClr val="C8A951"/>
                </a:solidFill>
                <a:effectLst/>
                <a:uFillTx/>
                <a:latin typeface="Calibri"/>
                <a:ea typeface="DejaVu Sans"/>
              </a:rPr>
              <a:t>Ingreso neto medio ponderado (PC + móvil): 6,50 EUR por unidad vendida</a:t>
            </a:r>
            <a:endParaRPr lang="mul"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8" name="Rectangle 2"/>
          <p:cNvSpPr/>
          <p:nvPr/>
        </p:nvSpPr>
        <p:spPr>
          <a:xfrm>
            <a:off x="0" y="0"/>
            <a:ext cx="9142200" cy="123264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19" name="Rectangle 3"/>
          <p:cNvSpPr/>
          <p:nvPr/>
        </p:nvSpPr>
        <p:spPr>
          <a:xfrm>
            <a:off x="0" y="123444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20" name="TextBox 4"/>
          <p:cNvSpPr/>
          <p:nvPr/>
        </p:nvSpPr>
        <p:spPr>
          <a:xfrm>
            <a:off x="320040" y="73080"/>
            <a:ext cx="8502120" cy="4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2600" b="1" u="none" strike="noStrike">
                <a:solidFill>
                  <a:srgbClr val="FFFFFF"/>
                </a:solidFill>
                <a:effectLst/>
                <a:uFillTx/>
                <a:latin typeface="Calibri"/>
                <a:ea typeface="DejaVu Sans"/>
              </a:rPr>
              <a:t>Viabilidad económica y financiera</a:t>
            </a:r>
            <a:endParaRPr lang="mul" sz="2600" b="0" u="none" strike="noStrike">
              <a:solidFill>
                <a:srgbClr val="000000"/>
              </a:solidFill>
              <a:effectLst/>
              <a:uFillTx/>
              <a:latin typeface="Arial"/>
            </a:endParaRPr>
          </a:p>
        </p:txBody>
      </p:sp>
      <p:sp>
        <p:nvSpPr>
          <p:cNvPr id="221" name="TextBox 5"/>
          <p:cNvSpPr/>
          <p:nvPr/>
        </p:nvSpPr>
        <p:spPr>
          <a:xfrm>
            <a:off x="320040" y="804600"/>
            <a:ext cx="850212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Inversión, costes y punto de equilibrio del proyecto</a:t>
            </a:r>
            <a:endParaRPr lang="mul" sz="1300" b="0" u="none" strike="noStrike">
              <a:solidFill>
                <a:srgbClr val="000000"/>
              </a:solidFill>
              <a:effectLst/>
              <a:uFillTx/>
              <a:latin typeface="Arial"/>
            </a:endParaRPr>
          </a:p>
        </p:txBody>
      </p:sp>
      <p:sp>
        <p:nvSpPr>
          <p:cNvPr id="222" name="Rectangle 6"/>
          <p:cNvSpPr/>
          <p:nvPr/>
        </p:nvSpPr>
        <p:spPr>
          <a:xfrm>
            <a:off x="228600" y="1417320"/>
            <a:ext cx="1991520" cy="13698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23" name="Rectangle 7"/>
          <p:cNvSpPr/>
          <p:nvPr/>
        </p:nvSpPr>
        <p:spPr>
          <a:xfrm>
            <a:off x="228600" y="1417320"/>
            <a:ext cx="19915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24" name="TextBox 8"/>
          <p:cNvSpPr/>
          <p:nvPr/>
        </p:nvSpPr>
        <p:spPr>
          <a:xfrm>
            <a:off x="320040" y="1508760"/>
            <a:ext cx="1827000" cy="394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000" b="1" u="none" strike="noStrike">
                <a:solidFill>
                  <a:srgbClr val="C8A951"/>
                </a:solidFill>
                <a:effectLst/>
                <a:uFillTx/>
                <a:latin typeface="Calibri"/>
                <a:ea typeface="DejaVu Sans"/>
              </a:rPr>
              <a:t>30.000 EUR</a:t>
            </a:r>
            <a:endParaRPr lang="mul" sz="2000" b="0" u="none" strike="noStrike">
              <a:solidFill>
                <a:srgbClr val="000000"/>
              </a:solidFill>
              <a:effectLst/>
              <a:uFillTx/>
              <a:latin typeface="Arial"/>
            </a:endParaRPr>
          </a:p>
        </p:txBody>
      </p:sp>
      <p:sp>
        <p:nvSpPr>
          <p:cNvPr id="225" name="TextBox 9"/>
          <p:cNvSpPr/>
          <p:nvPr/>
        </p:nvSpPr>
        <p:spPr>
          <a:xfrm>
            <a:off x="320040" y="214884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Inversión</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inicial total</a:t>
            </a:r>
            <a:endParaRPr lang="mul" sz="1100" b="0" u="none" strike="noStrike">
              <a:solidFill>
                <a:srgbClr val="000000"/>
              </a:solidFill>
              <a:effectLst/>
              <a:uFillTx/>
              <a:latin typeface="Arial"/>
            </a:endParaRPr>
          </a:p>
        </p:txBody>
      </p:sp>
      <p:sp>
        <p:nvSpPr>
          <p:cNvPr id="226" name="Rectangle 10"/>
          <p:cNvSpPr/>
          <p:nvPr/>
        </p:nvSpPr>
        <p:spPr>
          <a:xfrm>
            <a:off x="2441520" y="1417320"/>
            <a:ext cx="1991520" cy="13698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27" name="Rectangle 11"/>
          <p:cNvSpPr/>
          <p:nvPr/>
        </p:nvSpPr>
        <p:spPr>
          <a:xfrm>
            <a:off x="2441520" y="1417320"/>
            <a:ext cx="19915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28" name="TextBox 12"/>
          <p:cNvSpPr/>
          <p:nvPr/>
        </p:nvSpPr>
        <p:spPr>
          <a:xfrm>
            <a:off x="2532960" y="1508760"/>
            <a:ext cx="1827000" cy="394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000" b="1" u="none" strike="noStrike">
                <a:solidFill>
                  <a:srgbClr val="C8A951"/>
                </a:solidFill>
                <a:effectLst/>
                <a:uFillTx/>
                <a:latin typeface="Calibri"/>
                <a:ea typeface="DejaVu Sans"/>
              </a:rPr>
              <a:t>161.560 EUR</a:t>
            </a:r>
            <a:endParaRPr lang="mul" sz="2000" b="0" u="none" strike="noStrike">
              <a:solidFill>
                <a:srgbClr val="000000"/>
              </a:solidFill>
              <a:effectLst/>
              <a:uFillTx/>
              <a:latin typeface="Arial"/>
            </a:endParaRPr>
          </a:p>
        </p:txBody>
      </p:sp>
      <p:sp>
        <p:nvSpPr>
          <p:cNvPr id="229" name="TextBox 13"/>
          <p:cNvSpPr/>
          <p:nvPr/>
        </p:nvSpPr>
        <p:spPr>
          <a:xfrm>
            <a:off x="2532960" y="214884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Costes fijos</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anuales</a:t>
            </a:r>
            <a:endParaRPr lang="mul" sz="1100" b="0" u="none" strike="noStrike">
              <a:solidFill>
                <a:srgbClr val="000000"/>
              </a:solidFill>
              <a:effectLst/>
              <a:uFillTx/>
              <a:latin typeface="Arial"/>
            </a:endParaRPr>
          </a:p>
        </p:txBody>
      </p:sp>
      <p:sp>
        <p:nvSpPr>
          <p:cNvPr id="230" name="Rectangle 14"/>
          <p:cNvSpPr/>
          <p:nvPr/>
        </p:nvSpPr>
        <p:spPr>
          <a:xfrm>
            <a:off x="4654440" y="1417320"/>
            <a:ext cx="1991520" cy="13698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31" name="Rectangle 15"/>
          <p:cNvSpPr/>
          <p:nvPr/>
        </p:nvSpPr>
        <p:spPr>
          <a:xfrm>
            <a:off x="4654440" y="1417320"/>
            <a:ext cx="19915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32" name="TextBox 16"/>
          <p:cNvSpPr/>
          <p:nvPr/>
        </p:nvSpPr>
        <p:spPr>
          <a:xfrm>
            <a:off x="4745880" y="1508760"/>
            <a:ext cx="1827000" cy="394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000" b="1" u="none" strike="noStrike">
                <a:solidFill>
                  <a:srgbClr val="C8A951"/>
                </a:solidFill>
                <a:effectLst/>
                <a:uFillTx/>
                <a:latin typeface="Calibri"/>
                <a:ea typeface="DejaVu Sans"/>
              </a:rPr>
              <a:t>6,50 EUR</a:t>
            </a:r>
            <a:endParaRPr lang="mul" sz="2000" b="0" u="none" strike="noStrike">
              <a:solidFill>
                <a:srgbClr val="000000"/>
              </a:solidFill>
              <a:effectLst/>
              <a:uFillTx/>
              <a:latin typeface="Arial"/>
            </a:endParaRPr>
          </a:p>
        </p:txBody>
      </p:sp>
      <p:sp>
        <p:nvSpPr>
          <p:cNvPr id="233" name="TextBox 17"/>
          <p:cNvSpPr/>
          <p:nvPr/>
        </p:nvSpPr>
        <p:spPr>
          <a:xfrm>
            <a:off x="4745880" y="214884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Ingreso neto</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por unidad</a:t>
            </a:r>
            <a:endParaRPr lang="mul" sz="1100" b="0" u="none" strike="noStrike">
              <a:solidFill>
                <a:srgbClr val="000000"/>
              </a:solidFill>
              <a:effectLst/>
              <a:uFillTx/>
              <a:latin typeface="Arial"/>
            </a:endParaRPr>
          </a:p>
        </p:txBody>
      </p:sp>
      <p:sp>
        <p:nvSpPr>
          <p:cNvPr id="234" name="Rectangle 18"/>
          <p:cNvSpPr/>
          <p:nvPr/>
        </p:nvSpPr>
        <p:spPr>
          <a:xfrm>
            <a:off x="6867000" y="1417320"/>
            <a:ext cx="1991520" cy="13698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35" name="Rectangle 19"/>
          <p:cNvSpPr/>
          <p:nvPr/>
        </p:nvSpPr>
        <p:spPr>
          <a:xfrm>
            <a:off x="6867000" y="1417320"/>
            <a:ext cx="199152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36" name="TextBox 20"/>
          <p:cNvSpPr/>
          <p:nvPr/>
        </p:nvSpPr>
        <p:spPr>
          <a:xfrm>
            <a:off x="6958440" y="1508760"/>
            <a:ext cx="1827000" cy="394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2000" b="1" u="none" strike="noStrike">
                <a:solidFill>
                  <a:srgbClr val="C8A951"/>
                </a:solidFill>
                <a:effectLst/>
                <a:uFillTx/>
                <a:latin typeface="Calibri"/>
                <a:ea typeface="DejaVu Sans"/>
              </a:rPr>
              <a:t>~25.000 uds</a:t>
            </a:r>
            <a:endParaRPr lang="mul" sz="2000" b="0" u="none" strike="noStrike">
              <a:solidFill>
                <a:srgbClr val="000000"/>
              </a:solidFill>
              <a:effectLst/>
              <a:uFillTx/>
              <a:latin typeface="Arial"/>
            </a:endParaRPr>
          </a:p>
        </p:txBody>
      </p:sp>
      <p:sp>
        <p:nvSpPr>
          <p:cNvPr id="237" name="TextBox 21"/>
          <p:cNvSpPr/>
          <p:nvPr/>
        </p:nvSpPr>
        <p:spPr>
          <a:xfrm>
            <a:off x="6958440" y="2148840"/>
            <a:ext cx="1827000" cy="425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100" b="0" u="none" strike="noStrike">
                <a:solidFill>
                  <a:srgbClr val="E8EEF5"/>
                </a:solidFill>
                <a:effectLst/>
                <a:uFillTx/>
                <a:latin typeface="Calibri"/>
                <a:ea typeface="DejaVu Sans"/>
              </a:rPr>
              <a:t>Punto de</a:t>
            </a:r>
            <a:endParaRPr lang="mul" sz="1100" b="0" u="none" strike="noStrike">
              <a:solidFill>
                <a:srgbClr val="000000"/>
              </a:solidFill>
              <a:effectLst/>
              <a:uFillTx/>
              <a:latin typeface="Arial"/>
            </a:endParaRPr>
          </a:p>
          <a:p>
            <a:pPr algn="ctr" defTabSz="457200">
              <a:lnSpc>
                <a:spcPct val="100000"/>
              </a:lnSpc>
            </a:pPr>
            <a:r>
              <a:rPr lang="es-ES" sz="1100" b="0" u="none" strike="noStrike">
                <a:solidFill>
                  <a:srgbClr val="E8EEF5"/>
                </a:solidFill>
                <a:effectLst/>
                <a:uFillTx/>
                <a:latin typeface="Calibri"/>
                <a:ea typeface="DejaVu Sans"/>
              </a:rPr>
              <a:t>equilibrio año 1</a:t>
            </a:r>
            <a:endParaRPr lang="mul" sz="1100" b="0" u="none" strike="noStrike">
              <a:solidFill>
                <a:srgbClr val="000000"/>
              </a:solidFill>
              <a:effectLst/>
              <a:uFillTx/>
              <a:latin typeface="Arial"/>
            </a:endParaRPr>
          </a:p>
        </p:txBody>
      </p:sp>
      <p:sp>
        <p:nvSpPr>
          <p:cNvPr id="238" name="Rectangle 22"/>
          <p:cNvSpPr/>
          <p:nvPr/>
        </p:nvSpPr>
        <p:spPr>
          <a:xfrm>
            <a:off x="320040" y="2999160"/>
            <a:ext cx="2101320" cy="34560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39" name="TextBox 23"/>
          <p:cNvSpPr/>
          <p:nvPr/>
        </p:nvSpPr>
        <p:spPr>
          <a:xfrm>
            <a:off x="393120" y="3044880"/>
            <a:ext cx="200988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1" u="none" strike="noStrike">
                <a:solidFill>
                  <a:srgbClr val="FFFFFF"/>
                </a:solidFill>
                <a:effectLst/>
                <a:uFillTx/>
                <a:latin typeface="Calibri"/>
                <a:ea typeface="DejaVu Sans"/>
              </a:rPr>
              <a:t>COSTES FIJOS ANUALES</a:t>
            </a:r>
            <a:endParaRPr lang="mul" sz="1000" b="0" u="none" strike="noStrike">
              <a:solidFill>
                <a:srgbClr val="000000"/>
              </a:solidFill>
              <a:effectLst/>
              <a:uFillTx/>
              <a:latin typeface="Arial"/>
            </a:endParaRPr>
          </a:p>
        </p:txBody>
      </p:sp>
      <p:graphicFrame>
        <p:nvGraphicFramePr>
          <p:cNvPr id="240" name="Table 24"/>
          <p:cNvGraphicFramePr/>
          <p:nvPr/>
        </p:nvGraphicFramePr>
        <p:xfrm>
          <a:off x="320040" y="3429000"/>
          <a:ext cx="8503560" cy="2239920"/>
        </p:xfrm>
        <a:graphic>
          <a:graphicData uri="http://schemas.openxmlformats.org/drawingml/2006/table">
            <a:tbl>
              <a:tblPr/>
              <a:tblGrid>
                <a:gridCol w="2834640"/>
                <a:gridCol w="1554480"/>
                <a:gridCol w="4114800"/>
              </a:tblGrid>
              <a:tr h="373320">
                <a:tc>
                  <a:txBody>
                    <a:bodyPr anchor="t">
                      <a:noAutofit/>
                    </a:bodyPr>
                    <a:p>
                      <a:pPr defTabSz="457200">
                        <a:lnSpc>
                          <a:spcPct val="100000"/>
                        </a:lnSpc>
                      </a:pPr>
                      <a:r>
                        <a:rPr lang="es-ES" sz="1100" b="1" u="none" strike="noStrike">
                          <a:solidFill>
                            <a:srgbClr val="FFFFFF"/>
                          </a:solidFill>
                          <a:effectLst/>
                          <a:uFillTx/>
                          <a:latin typeface="Calibri"/>
                        </a:rPr>
                        <a:t>Concepto</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c>
                  <a:txBody>
                    <a:bodyPr anchor="t">
                      <a:noAutofit/>
                    </a:bodyPr>
                    <a:p>
                      <a:pPr defTabSz="457200">
                        <a:lnSpc>
                          <a:spcPct val="100000"/>
                        </a:lnSpc>
                      </a:pPr>
                      <a:r>
                        <a:rPr lang="es-ES" sz="1100" b="1" u="none" strike="noStrike">
                          <a:solidFill>
                            <a:srgbClr val="FFFFFF"/>
                          </a:solidFill>
                          <a:effectLst/>
                          <a:uFillTx/>
                          <a:latin typeface="Calibri"/>
                        </a:rPr>
                        <a:t>Importe</a:t>
                      </a:r>
                      <a:r>
                        <a:rPr lang="en-US" sz="1100" b="1" u="none" strike="noStrike">
                          <a:solidFill>
                            <a:srgbClr val="FFFFFF"/>
                          </a:solidFill>
                          <a:effectLst/>
                          <a:uFillTx/>
                          <a:latin typeface="Calibri"/>
                        </a:rPr>
                        <a:t> </a:t>
                      </a:r>
                      <a:r>
                        <a:rPr lang="es-ES" sz="1100" b="1" u="none" strike="noStrike">
                          <a:solidFill>
                            <a:srgbClr val="FFFFFF"/>
                          </a:solidFill>
                          <a:effectLst/>
                          <a:uFillTx/>
                          <a:latin typeface="Calibri"/>
                        </a:rPr>
                        <a:t>anual</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c>
                  <a:txBody>
                    <a:bodyPr anchor="t">
                      <a:noAutofit/>
                    </a:bodyPr>
                    <a:p>
                      <a:pPr defTabSz="457200">
                        <a:lnSpc>
                          <a:spcPct val="100000"/>
                        </a:lnSpc>
                      </a:pPr>
                      <a:r>
                        <a:rPr lang="es-ES" sz="1100" b="1" u="none" strike="noStrike">
                          <a:solidFill>
                            <a:srgbClr val="FFFFFF"/>
                          </a:solidFill>
                          <a:effectLst/>
                          <a:uFillTx/>
                          <a:latin typeface="Calibri"/>
                        </a:rPr>
                        <a:t>Observaciones</a:t>
                      </a:r>
                      <a:endParaRPr lang="mul" sz="11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47A1"/>
                    </a:solidFill>
                  </a:tcPr>
                </a:tc>
              </a:tr>
              <a:tr h="373320">
                <a:tc>
                  <a:txBody>
                    <a:bodyPr anchor="t">
                      <a:noAutofit/>
                    </a:bodyPr>
                    <a:p>
                      <a:pPr defTabSz="457200">
                        <a:lnSpc>
                          <a:spcPct val="100000"/>
                        </a:lnSpc>
                      </a:pPr>
                      <a:r>
                        <a:rPr lang="en-US" sz="1000" b="0" u="none" strike="noStrike">
                          <a:solidFill>
                            <a:srgbClr val="FFFFFF"/>
                          </a:solidFill>
                          <a:effectLst/>
                          <a:uFillTx/>
                          <a:latin typeface="Calibri"/>
                        </a:rPr>
                        <a:t>Personal (4 </a:t>
                      </a:r>
                      <a:r>
                        <a:rPr lang="es-ES" sz="1000" b="0" u="none" strike="noStrike">
                          <a:solidFill>
                            <a:srgbClr val="FFFFFF"/>
                          </a:solidFill>
                          <a:effectLst/>
                          <a:uFillTx/>
                          <a:latin typeface="Calibri"/>
                        </a:rPr>
                        <a:t>sueldos</a:t>
                      </a:r>
                      <a:r>
                        <a:rPr lang="en-US" sz="1000" b="0" u="none" strike="noStrike">
                          <a:solidFill>
                            <a:srgbClr val="FFFFFF"/>
                          </a:solidFill>
                          <a:effectLst/>
                          <a:uFillTx/>
                          <a:latin typeface="Calibri"/>
                        </a:rPr>
                        <a:t> + </a:t>
                      </a:r>
                      <a:r>
                        <a:rPr lang="es-ES" sz="1000" b="0" u="none" strike="noStrike">
                          <a:solidFill>
                            <a:srgbClr val="FFFFFF"/>
                          </a:solidFill>
                          <a:effectLst/>
                          <a:uFillTx/>
                          <a:latin typeface="Calibri"/>
                        </a:rPr>
                        <a:t>Seguridad</a:t>
                      </a:r>
                      <a:r>
                        <a:rPr lang="en-US" sz="1000" b="0" u="none" strike="noStrike">
                          <a:solidFill>
                            <a:srgbClr val="FFFFFF"/>
                          </a:solidFill>
                          <a:effectLst/>
                          <a:uFillTx/>
                          <a:latin typeface="Calibri"/>
                        </a:rPr>
                        <a:t> Social)</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000" b="0" u="none" strike="noStrike">
                          <a:solidFill>
                            <a:srgbClr val="FFFFFF"/>
                          </a:solidFill>
                          <a:effectLst/>
                          <a:uFillTx/>
                          <a:latin typeface="Calibri"/>
                        </a:rPr>
                        <a:t>136.000 EUR</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s-ES" sz="1000" b="0" u="none" strike="noStrike">
                          <a:solidFill>
                            <a:srgbClr val="FFFFFF"/>
                          </a:solidFill>
                          <a:effectLst/>
                          <a:uFillTx/>
                          <a:latin typeface="Calibri"/>
                        </a:rPr>
                        <a:t>Aprox.</a:t>
                      </a:r>
                      <a:r>
                        <a:rPr lang="en-US" sz="1000" b="0" u="none" strike="noStrike">
                          <a:solidFill>
                            <a:srgbClr val="FFFFFF"/>
                          </a:solidFill>
                          <a:effectLst/>
                          <a:uFillTx/>
                          <a:latin typeface="Calibri"/>
                        </a:rPr>
                        <a:t> 2.200 EUR </a:t>
                      </a:r>
                      <a:r>
                        <a:rPr lang="es-ES" sz="1000" b="0" u="none" strike="noStrike">
                          <a:solidFill>
                            <a:srgbClr val="FFFFFF"/>
                          </a:solidFill>
                          <a:effectLst/>
                          <a:uFillTx/>
                          <a:latin typeface="Calibri"/>
                        </a:rPr>
                        <a:t>netos</a:t>
                      </a:r>
                      <a:r>
                        <a:rPr lang="en-US" sz="1000" b="0" u="none" strike="noStrike">
                          <a:solidFill>
                            <a:srgbClr val="FFFFFF"/>
                          </a:solidFill>
                          <a:effectLst/>
                          <a:uFillTx/>
                          <a:latin typeface="Calibri"/>
                        </a:rPr>
                        <a:t>/mes </a:t>
                      </a:r>
                      <a:r>
                        <a:rPr lang="es-ES" sz="1000" b="0" u="none" strike="noStrike">
                          <a:solidFill>
                            <a:srgbClr val="FFFFFF"/>
                          </a:solidFill>
                          <a:effectLst/>
                          <a:uFillTx/>
                          <a:latin typeface="Calibri"/>
                        </a:rPr>
                        <a:t>por</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trabajador</a:t>
                      </a:r>
                      <a:r>
                        <a:rPr lang="en-US" sz="1000" b="0" u="none" strike="noStrike">
                          <a:solidFill>
                            <a:srgbClr val="FFFFFF"/>
                          </a:solidFill>
                          <a:effectLst/>
                          <a:uFillTx/>
                          <a:latin typeface="Calibri"/>
                        </a:rPr>
                        <a:t> + ~25% SS </a:t>
                      </a:r>
                      <a:r>
                        <a:rPr lang="es-ES" sz="1000" b="0" u="none" strike="noStrike">
                          <a:solidFill>
                            <a:srgbClr val="FFFFFF"/>
                          </a:solidFill>
                          <a:effectLst/>
                          <a:uFillTx/>
                          <a:latin typeface="Calibri"/>
                        </a:rPr>
                        <a:t>empresa</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373320">
                <a:tc>
                  <a:txBody>
                    <a:bodyPr anchor="t">
                      <a:noAutofit/>
                    </a:bodyPr>
                    <a:p>
                      <a:pPr defTabSz="457200">
                        <a:lnSpc>
                          <a:spcPct val="100000"/>
                        </a:lnSpc>
                      </a:pPr>
                      <a:r>
                        <a:rPr lang="es-ES" sz="1000" b="0" u="none" strike="noStrike">
                          <a:solidFill>
                            <a:srgbClr val="FFFFFF"/>
                          </a:solidFill>
                          <a:effectLst/>
                          <a:uFillTx/>
                          <a:latin typeface="Calibri"/>
                        </a:rPr>
                        <a:t>Alquiler</a:t>
                      </a:r>
                      <a:r>
                        <a:rPr lang="en-US" sz="1000" b="0" u="none" strike="noStrike">
                          <a:solidFill>
                            <a:srgbClr val="FFFFFF"/>
                          </a:solidFill>
                          <a:effectLst/>
                          <a:uFillTx/>
                          <a:latin typeface="Calibri"/>
                        </a:rPr>
                        <a:t> coworking y </a:t>
                      </a:r>
                      <a:r>
                        <a:rPr lang="es-ES" sz="1000" b="0" u="none" strike="noStrike">
                          <a:solidFill>
                            <a:srgbClr val="FFFFFF"/>
                          </a:solidFill>
                          <a:effectLst/>
                          <a:uFillTx/>
                          <a:latin typeface="Calibri"/>
                        </a:rPr>
                        <a:t>suministros</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000" b="0" u="none" strike="noStrike">
                          <a:solidFill>
                            <a:srgbClr val="FFFFFF"/>
                          </a:solidFill>
                          <a:effectLst/>
                          <a:uFillTx/>
                          <a:latin typeface="Calibri"/>
                        </a:rPr>
                        <a:t> 14.400 EUR</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000" b="0" u="none" strike="noStrike">
                          <a:solidFill>
                            <a:srgbClr val="FFFFFF"/>
                          </a:solidFill>
                          <a:effectLst/>
                          <a:uFillTx/>
                          <a:latin typeface="Calibri"/>
                        </a:rPr>
                        <a:t>1.200 EUR/mes (</a:t>
                      </a:r>
                      <a:r>
                        <a:rPr lang="es-ES" sz="1000" b="0" u="none" strike="noStrike">
                          <a:solidFill>
                            <a:srgbClr val="FFFFFF"/>
                          </a:solidFill>
                          <a:effectLst/>
                          <a:uFillTx/>
                          <a:latin typeface="Calibri"/>
                        </a:rPr>
                        <a:t>espacio</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compartido</a:t>
                      </a:r>
                      <a:r>
                        <a:rPr lang="en-US" sz="1000" b="0" u="none" strike="noStrike">
                          <a:solidFill>
                            <a:srgbClr val="FFFFFF"/>
                          </a:solidFill>
                          <a:effectLst/>
                          <a:uFillTx/>
                          <a:latin typeface="Calibri"/>
                        </a:rPr>
                        <a:t> con </a:t>
                      </a:r>
                      <a:r>
                        <a:rPr lang="es-ES" sz="1000" b="0" u="none" strike="noStrike">
                          <a:solidFill>
                            <a:srgbClr val="FFFFFF"/>
                          </a:solidFill>
                          <a:effectLst/>
                          <a:uFillTx/>
                          <a:latin typeface="Calibri"/>
                        </a:rPr>
                        <a:t>luz</a:t>
                      </a:r>
                      <a:r>
                        <a:rPr lang="en-US" sz="1000" b="0" u="none" strike="noStrike">
                          <a:solidFill>
                            <a:srgbClr val="FFFFFF"/>
                          </a:solidFill>
                          <a:effectLst/>
                          <a:uFillTx/>
                          <a:latin typeface="Calibri"/>
                        </a:rPr>
                        <a:t>, internet </a:t>
                      </a:r>
                      <a:r>
                        <a:rPr lang="es-ES" sz="1000" b="0" u="none" strike="noStrike">
                          <a:solidFill>
                            <a:srgbClr val="FFFFFF"/>
                          </a:solidFill>
                          <a:effectLst/>
                          <a:uFillTx/>
                          <a:latin typeface="Calibri"/>
                        </a:rPr>
                        <a:t>incluidos</a:t>
                      </a:r>
                      <a:r>
                        <a:rPr lang="en-US" sz="1000" b="0" u="none" strike="noStrike">
                          <a:solidFill>
                            <a:srgbClr val="FFFFFF"/>
                          </a:solidFill>
                          <a:effectLst/>
                          <a:uFillTx/>
                          <a:latin typeface="Calibri"/>
                        </a:rPr>
                        <a:t>)</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r h="373320">
                <a:tc>
                  <a:txBody>
                    <a:bodyPr anchor="t">
                      <a:noAutofit/>
                    </a:bodyPr>
                    <a:p>
                      <a:pPr defTabSz="457200">
                        <a:lnSpc>
                          <a:spcPct val="100000"/>
                        </a:lnSpc>
                      </a:pPr>
                      <a:r>
                        <a:rPr lang="es-ES" sz="1000" b="0" u="none" strike="noStrike">
                          <a:solidFill>
                            <a:srgbClr val="FFFFFF"/>
                          </a:solidFill>
                          <a:effectLst/>
                          <a:uFillTx/>
                          <a:latin typeface="Calibri"/>
                        </a:rPr>
                        <a:t>Asesoría</a:t>
                      </a:r>
                      <a:r>
                        <a:rPr lang="en-US" sz="1000" b="0" u="none" strike="noStrike">
                          <a:solidFill>
                            <a:srgbClr val="FFFFFF"/>
                          </a:solidFill>
                          <a:effectLst/>
                          <a:uFillTx/>
                          <a:latin typeface="Calibri"/>
                        </a:rPr>
                        <a:t> fiscal y </a:t>
                      </a:r>
                      <a:r>
                        <a:rPr lang="es-ES" sz="1000" b="0" u="none" strike="noStrike">
                          <a:solidFill>
                            <a:srgbClr val="FFFFFF"/>
                          </a:solidFill>
                          <a:effectLst/>
                          <a:uFillTx/>
                          <a:latin typeface="Calibri"/>
                        </a:rPr>
                        <a:t>laboral</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000" b="0" u="none" strike="noStrike">
                          <a:solidFill>
                            <a:srgbClr val="FFFFFF"/>
                          </a:solidFill>
                          <a:effectLst/>
                          <a:uFillTx/>
                          <a:latin typeface="Calibri"/>
                        </a:rPr>
                        <a:t>  3.600 EUR</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000" b="0" u="none" strike="noStrike">
                          <a:solidFill>
                            <a:srgbClr val="FFFFFF"/>
                          </a:solidFill>
                          <a:effectLst/>
                          <a:uFillTx/>
                          <a:latin typeface="Calibri"/>
                        </a:rPr>
                        <a:t>300 EUR/mes (</a:t>
                      </a:r>
                      <a:r>
                        <a:rPr lang="es-ES" sz="1000" b="0" u="none" strike="noStrike">
                          <a:solidFill>
                            <a:srgbClr val="FFFFFF"/>
                          </a:solidFill>
                          <a:effectLst/>
                          <a:uFillTx/>
                          <a:latin typeface="Calibri"/>
                        </a:rPr>
                        <a:t>gestora</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externa</a:t>
                      </a:r>
                      <a:r>
                        <a:rPr lang="en-US" sz="1000" b="0" u="none" strike="noStrike">
                          <a:solidFill>
                            <a:srgbClr val="FFFFFF"/>
                          </a:solidFill>
                          <a:effectLst/>
                          <a:uFillTx/>
                          <a:latin typeface="Calibri"/>
                        </a:rPr>
                        <a:t>)</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r h="373320">
                <a:tc>
                  <a:txBody>
                    <a:bodyPr anchor="t">
                      <a:noAutofit/>
                    </a:bodyPr>
                    <a:p>
                      <a:pPr defTabSz="457200">
                        <a:lnSpc>
                          <a:spcPct val="100000"/>
                        </a:lnSpc>
                      </a:pPr>
                      <a:r>
                        <a:rPr lang="es-ES" sz="1000" b="0" u="none" strike="noStrike">
                          <a:solidFill>
                            <a:srgbClr val="FFFFFF"/>
                          </a:solidFill>
                          <a:effectLst/>
                          <a:uFillTx/>
                          <a:latin typeface="Calibri"/>
                        </a:rPr>
                        <a:t>Cuotas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socios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trabajadores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autónomos</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000" b="0" u="none" strike="noStrike">
                          <a:solidFill>
                            <a:srgbClr val="FFFFFF"/>
                          </a:solidFill>
                          <a:effectLst/>
                          <a:uFillTx/>
                          <a:latin typeface="Calibri"/>
                        </a:rPr>
                        <a:t>  7.560 EUR</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c>
                  <a:txBody>
                    <a:bodyPr anchor="t">
                      <a:noAutofit/>
                    </a:bodyPr>
                    <a:p>
                      <a:pPr defTabSz="457200">
                        <a:lnSpc>
                          <a:spcPct val="100000"/>
                        </a:lnSpc>
                      </a:pPr>
                      <a:r>
                        <a:rPr lang="en-US" sz="1000" b="0" u="none" strike="noStrike">
                          <a:solidFill>
                            <a:srgbClr val="FFFFFF"/>
                          </a:solidFill>
                          <a:effectLst/>
                          <a:uFillTx/>
                          <a:latin typeface="Calibri"/>
                        </a:rPr>
                        <a:t>630 EUR/mes (</a:t>
                      </a:r>
                      <a:r>
                        <a:rPr lang="es-ES" sz="1000" b="0" u="none" strike="noStrike">
                          <a:solidFill>
                            <a:srgbClr val="FFFFFF"/>
                          </a:solidFill>
                          <a:effectLst/>
                          <a:uFillTx/>
                          <a:latin typeface="Calibri"/>
                        </a:rPr>
                        <a:t>tarifa</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plana</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autónomos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societarios</a:t>
                      </a:r>
                      <a:r>
                        <a:rPr lang="en-US" sz="1000" b="0" u="none" strike="noStrike">
                          <a:solidFill>
                            <a:srgbClr val="FFFFFF"/>
                          </a:solidFill>
                          <a:effectLst/>
                          <a:uFillTx/>
                          <a:latin typeface="Calibri"/>
                        </a:rPr>
                        <a:t> 2026)</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D1B2A"/>
                    </a:solidFill>
                  </a:tcPr>
                </a:tc>
              </a:tr>
              <a:tr h="373320">
                <a:tc>
                  <a:txBody>
                    <a:bodyPr anchor="t">
                      <a:noAutofit/>
                    </a:bodyPr>
                    <a:p>
                      <a:pPr defTabSz="457200">
                        <a:lnSpc>
                          <a:spcPct val="100000"/>
                        </a:lnSpc>
                      </a:pPr>
                      <a:r>
                        <a:rPr lang="es-ES" sz="1000" b="0" u="none" strike="noStrike">
                          <a:solidFill>
                            <a:srgbClr val="FFFFFF"/>
                          </a:solidFill>
                          <a:effectLst/>
                          <a:uFillTx/>
                          <a:latin typeface="Calibri"/>
                        </a:rPr>
                        <a:t>COSTES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FIJOS</a:t>
                      </a:r>
                      <a:r>
                        <a:rPr lang="en-US" sz="1000" b="0" u="none" strike="noStrike">
                          <a:solidFill>
                            <a:srgbClr val="FFFFFF"/>
                          </a:solidFill>
                          <a:effectLst/>
                          <a:uFillTx/>
                          <a:latin typeface="Calibri"/>
                        </a:rPr>
                        <a:t> </a:t>
                      </a:r>
                      <a:r>
                        <a:rPr lang="es-ES" sz="1000" b="0" u="none" strike="noStrike">
                          <a:solidFill>
                            <a:srgbClr val="FFFFFF"/>
                          </a:solidFill>
                          <a:effectLst/>
                          <a:uFillTx/>
                          <a:latin typeface="Calibri"/>
                        </a:rPr>
                        <a:t>ANUALES</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000" b="0" u="none" strike="noStrike">
                          <a:solidFill>
                            <a:srgbClr val="FFFFFF"/>
                          </a:solidFill>
                          <a:effectLst/>
                          <a:uFillTx/>
                          <a:latin typeface="Calibri"/>
                        </a:rPr>
                        <a:t>161.560 EUR</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c>
                  <a:txBody>
                    <a:bodyPr anchor="t">
                      <a:noAutofit/>
                    </a:bodyPr>
                    <a:p>
                      <a:pPr defTabSz="457200">
                        <a:lnSpc>
                          <a:spcPct val="100000"/>
                        </a:lnSpc>
                      </a:pPr>
                      <a:r>
                        <a:rPr lang="en-US" sz="1000" b="0" u="none" strike="noStrike">
                          <a:solidFill>
                            <a:srgbClr val="FFFFFF"/>
                          </a:solidFill>
                          <a:effectLst/>
                          <a:uFillTx/>
                          <a:latin typeface="Calibri"/>
                        </a:rPr>
                        <a:t>—</a:t>
                      </a:r>
                      <a:endParaRPr lang="mul" sz="10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42A45"/>
                    </a:solidFill>
                  </a:tcPr>
                </a:tc>
              </a:tr>
            </a:tbl>
          </a:graphicData>
        </a:graphic>
      </p:graphicFrame>
      <p:sp>
        <p:nvSpPr>
          <p:cNvPr id="241" name="TextBox 25"/>
          <p:cNvSpPr/>
          <p:nvPr/>
        </p:nvSpPr>
        <p:spPr>
          <a:xfrm>
            <a:off x="320040" y="5852160"/>
            <a:ext cx="8502120" cy="242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000" b="0" i="1" u="none" strike="noStrike">
                <a:solidFill>
                  <a:srgbClr val="90A0B4"/>
                </a:solidFill>
                <a:effectLst/>
                <a:uFillTx/>
                <a:latin typeface="Calibri"/>
                <a:ea typeface="DejaVu Sans"/>
              </a:rPr>
              <a:t>Financiación: Capital propio  +  RETECH Andalucía (hasta 30.000 EUR)  +  ICO Emprendedores (hasta 100.000 EUR)  +  Ministerio de Cultura</a:t>
            </a:r>
            <a:endParaRPr lang="mul"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43" name="Rectangle 2"/>
          <p:cNvSpPr/>
          <p:nvPr/>
        </p:nvSpPr>
        <p:spPr>
          <a:xfrm>
            <a:off x="0" y="0"/>
            <a:ext cx="9142200" cy="132408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44" name="Rectangle 3"/>
          <p:cNvSpPr/>
          <p:nvPr/>
        </p:nvSpPr>
        <p:spPr>
          <a:xfrm>
            <a:off x="0" y="1325880"/>
            <a:ext cx="91422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45" name="TextBox 4"/>
          <p:cNvSpPr/>
          <p:nvPr/>
        </p:nvSpPr>
        <p:spPr>
          <a:xfrm>
            <a:off x="320040" y="91440"/>
            <a:ext cx="8502120" cy="54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3000" b="1" u="none" strike="noStrike">
                <a:solidFill>
                  <a:srgbClr val="FFFFFF"/>
                </a:solidFill>
                <a:effectLst/>
                <a:uFillTx/>
                <a:latin typeface="Calibri"/>
                <a:ea typeface="DejaVu Sans"/>
              </a:rPr>
              <a:t>Conclusiones</a:t>
            </a:r>
            <a:endParaRPr lang="mul" sz="3000" b="0" u="none" strike="noStrike">
              <a:solidFill>
                <a:srgbClr val="000000"/>
              </a:solidFill>
              <a:effectLst/>
              <a:uFillTx/>
              <a:latin typeface="Arial"/>
            </a:endParaRPr>
          </a:p>
        </p:txBody>
      </p:sp>
      <p:sp>
        <p:nvSpPr>
          <p:cNvPr id="246" name="TextBox 5"/>
          <p:cNvSpPr/>
          <p:nvPr/>
        </p:nvSpPr>
        <p:spPr>
          <a:xfrm>
            <a:off x="320040" y="822960"/>
            <a:ext cx="8502120" cy="486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0" i="1" u="none" strike="noStrike">
                <a:solidFill>
                  <a:srgbClr val="C8A951"/>
                </a:solidFill>
                <a:effectLst/>
                <a:uFillTx/>
                <a:latin typeface="Calibri"/>
                <a:ea typeface="DejaVu Sans"/>
              </a:rPr>
              <a:t>Crónicas del Log Pose presenta una base técnica y comercial solida para su viabilidad como producto de entretenimiento digital</a:t>
            </a:r>
            <a:endParaRPr lang="mul" sz="1300" b="0" u="none" strike="noStrike">
              <a:solidFill>
                <a:srgbClr val="000000"/>
              </a:solidFill>
              <a:effectLst/>
              <a:uFillTx/>
              <a:latin typeface="Arial"/>
            </a:endParaRPr>
          </a:p>
        </p:txBody>
      </p:sp>
      <p:sp>
        <p:nvSpPr>
          <p:cNvPr id="247" name="Rectangle 6"/>
          <p:cNvSpPr/>
          <p:nvPr/>
        </p:nvSpPr>
        <p:spPr>
          <a:xfrm>
            <a:off x="320040" y="1508760"/>
            <a:ext cx="254160" cy="8211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48" name="Rectangle 7"/>
          <p:cNvSpPr/>
          <p:nvPr/>
        </p:nvSpPr>
        <p:spPr>
          <a:xfrm>
            <a:off x="640080" y="1508760"/>
            <a:ext cx="8227800" cy="8211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49" name="TextBox 8"/>
          <p:cNvSpPr/>
          <p:nvPr/>
        </p:nvSpPr>
        <p:spPr>
          <a:xfrm>
            <a:off x="777240" y="1554480"/>
            <a:ext cx="795348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1" u="none" strike="noStrike">
                <a:solidFill>
                  <a:srgbClr val="FFFFFF"/>
                </a:solidFill>
                <a:effectLst/>
                <a:uFillTx/>
                <a:latin typeface="Calibri"/>
                <a:ea typeface="DejaVu Sans"/>
              </a:rPr>
              <a:t>Mercado en crecimiento sostenido</a:t>
            </a:r>
            <a:endParaRPr lang="mul" sz="1300" b="0" u="none" strike="noStrike">
              <a:solidFill>
                <a:srgbClr val="000000"/>
              </a:solidFill>
              <a:effectLst/>
              <a:uFillTx/>
              <a:latin typeface="Arial"/>
            </a:endParaRPr>
          </a:p>
        </p:txBody>
      </p:sp>
      <p:sp>
        <p:nvSpPr>
          <p:cNvPr id="250" name="TextBox 9"/>
          <p:cNvSpPr/>
          <p:nvPr/>
        </p:nvSpPr>
        <p:spPr>
          <a:xfrm>
            <a:off x="777240" y="1929240"/>
            <a:ext cx="7953480" cy="425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90A0B4"/>
                </a:solidFill>
                <a:effectLst/>
                <a:uFillTx/>
                <a:latin typeface="Calibri"/>
                <a:ea typeface="DejaVu Sans"/>
              </a:rPr>
              <a:t>CAGR 10,8% en roguelikes. Slay the Spire supero 10 M de copias vendidas. La demanda activa y la comunidad fidelizada demuestran que hay espacio para propuestas independientes de calidad.</a:t>
            </a:r>
            <a:endParaRPr lang="mul" sz="1100" b="0" u="none" strike="noStrike">
              <a:solidFill>
                <a:srgbClr val="000000"/>
              </a:solidFill>
              <a:effectLst/>
              <a:uFillTx/>
              <a:latin typeface="Arial"/>
            </a:endParaRPr>
          </a:p>
        </p:txBody>
      </p:sp>
      <p:sp>
        <p:nvSpPr>
          <p:cNvPr id="251" name="Rectangle 10"/>
          <p:cNvSpPr/>
          <p:nvPr/>
        </p:nvSpPr>
        <p:spPr>
          <a:xfrm>
            <a:off x="320040" y="2532960"/>
            <a:ext cx="254160" cy="8211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52" name="Rectangle 11"/>
          <p:cNvSpPr/>
          <p:nvPr/>
        </p:nvSpPr>
        <p:spPr>
          <a:xfrm>
            <a:off x="640080" y="2532960"/>
            <a:ext cx="8227800" cy="8211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53" name="TextBox 12"/>
          <p:cNvSpPr/>
          <p:nvPr/>
        </p:nvSpPr>
        <p:spPr>
          <a:xfrm>
            <a:off x="777240" y="2578680"/>
            <a:ext cx="795348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1" u="none" strike="noStrike">
                <a:solidFill>
                  <a:srgbClr val="FFFFFF"/>
                </a:solidFill>
                <a:effectLst/>
                <a:uFillTx/>
                <a:latin typeface="Calibri"/>
                <a:ea typeface="DejaVu Sans"/>
              </a:rPr>
              <a:t>Propuesta diferenciada y con IP propia</a:t>
            </a:r>
            <a:endParaRPr lang="mul" sz="1300" b="0" u="none" strike="noStrike">
              <a:solidFill>
                <a:srgbClr val="000000"/>
              </a:solidFill>
              <a:effectLst/>
              <a:uFillTx/>
              <a:latin typeface="Arial"/>
            </a:endParaRPr>
          </a:p>
        </p:txBody>
      </p:sp>
      <p:sp>
        <p:nvSpPr>
          <p:cNvPr id="254" name="TextBox 13"/>
          <p:cNvSpPr/>
          <p:nvPr/>
        </p:nvSpPr>
        <p:spPr>
          <a:xfrm>
            <a:off x="777240" y="2953440"/>
            <a:ext cx="795348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sng" strike="noStrike">
                <a:solidFill>
                  <a:srgbClr val="90A0B4"/>
                </a:solidFill>
                <a:effectLst/>
                <a:uFillTx/>
                <a:latin typeface="Calibri"/>
                <a:ea typeface="DejaVu Sans"/>
              </a:rPr>
              <a:t>El sistema Marea Dinámica y la Gestión de Tripulación generan partidas irrepetibles sin depender de licencias de terceros.</a:t>
            </a:r>
            <a:endParaRPr lang="mul" sz="1100" b="0" u="none" strike="noStrike">
              <a:solidFill>
                <a:srgbClr val="000000"/>
              </a:solidFill>
              <a:effectLst/>
              <a:uFillTx/>
              <a:latin typeface="Arial"/>
            </a:endParaRPr>
          </a:p>
        </p:txBody>
      </p:sp>
      <p:sp>
        <p:nvSpPr>
          <p:cNvPr id="255" name="Rectangle 14"/>
          <p:cNvSpPr/>
          <p:nvPr/>
        </p:nvSpPr>
        <p:spPr>
          <a:xfrm>
            <a:off x="320040" y="3557160"/>
            <a:ext cx="254160" cy="8211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56" name="Rectangle 15"/>
          <p:cNvSpPr/>
          <p:nvPr/>
        </p:nvSpPr>
        <p:spPr>
          <a:xfrm>
            <a:off x="640080" y="3557160"/>
            <a:ext cx="8227800" cy="8211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57" name="TextBox 16"/>
          <p:cNvSpPr/>
          <p:nvPr/>
        </p:nvSpPr>
        <p:spPr>
          <a:xfrm>
            <a:off x="777240" y="3602880"/>
            <a:ext cx="795348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1" u="none" strike="noStrike">
                <a:solidFill>
                  <a:srgbClr val="FFFFFF"/>
                </a:solidFill>
                <a:effectLst/>
                <a:uFillTx/>
                <a:latin typeface="Calibri"/>
                <a:ea typeface="DejaVu Sans"/>
              </a:rPr>
              <a:t>Equipo multidisciplinar con metodología probada</a:t>
            </a:r>
            <a:endParaRPr lang="mul" sz="1300" b="0" u="none" strike="noStrike">
              <a:solidFill>
                <a:srgbClr val="000000"/>
              </a:solidFill>
              <a:effectLst/>
              <a:uFillTx/>
              <a:latin typeface="Arial"/>
            </a:endParaRPr>
          </a:p>
        </p:txBody>
      </p:sp>
      <p:sp>
        <p:nvSpPr>
          <p:cNvPr id="258" name="TextBox 17"/>
          <p:cNvSpPr/>
          <p:nvPr/>
        </p:nvSpPr>
        <p:spPr>
          <a:xfrm>
            <a:off x="777240" y="3977640"/>
            <a:ext cx="795348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90A0B4"/>
                </a:solidFill>
                <a:effectLst/>
                <a:uFillTx/>
                <a:latin typeface="Calibri"/>
                <a:ea typeface="DejaVu Sans"/>
              </a:rPr>
              <a:t>Cuatro perfiles especializados trabajando con Scrum, GitFlow y KPIs medibles en cada sprint.</a:t>
            </a:r>
            <a:endParaRPr lang="mul" sz="1100" b="0" u="none" strike="noStrike">
              <a:solidFill>
                <a:srgbClr val="000000"/>
              </a:solidFill>
              <a:effectLst/>
              <a:uFillTx/>
              <a:latin typeface="Arial"/>
            </a:endParaRPr>
          </a:p>
        </p:txBody>
      </p:sp>
      <p:sp>
        <p:nvSpPr>
          <p:cNvPr id="259" name="Rectangle 18"/>
          <p:cNvSpPr/>
          <p:nvPr/>
        </p:nvSpPr>
        <p:spPr>
          <a:xfrm>
            <a:off x="320040" y="4581000"/>
            <a:ext cx="254160" cy="8211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60" name="Rectangle 19"/>
          <p:cNvSpPr/>
          <p:nvPr/>
        </p:nvSpPr>
        <p:spPr>
          <a:xfrm>
            <a:off x="640080" y="4581000"/>
            <a:ext cx="8227800" cy="8211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61" name="TextBox 20"/>
          <p:cNvSpPr/>
          <p:nvPr/>
        </p:nvSpPr>
        <p:spPr>
          <a:xfrm>
            <a:off x="777240" y="4626720"/>
            <a:ext cx="795348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1" u="none" strike="noStrike">
                <a:solidFill>
                  <a:srgbClr val="FFFFFF"/>
                </a:solidFill>
                <a:effectLst/>
                <a:uFillTx/>
                <a:latin typeface="Calibri"/>
                <a:ea typeface="DejaVu Sans"/>
              </a:rPr>
              <a:t>Viabilidad financiera demostrada</a:t>
            </a:r>
            <a:endParaRPr lang="mul" sz="1300" b="0" u="none" strike="noStrike">
              <a:solidFill>
                <a:srgbClr val="000000"/>
              </a:solidFill>
              <a:effectLst/>
              <a:uFillTx/>
              <a:latin typeface="Arial"/>
            </a:endParaRPr>
          </a:p>
        </p:txBody>
      </p:sp>
      <p:sp>
        <p:nvSpPr>
          <p:cNvPr id="262" name="TextBox 21"/>
          <p:cNvSpPr/>
          <p:nvPr/>
        </p:nvSpPr>
        <p:spPr>
          <a:xfrm>
            <a:off x="777240" y="5001840"/>
            <a:ext cx="7953480" cy="425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90A0B4"/>
                </a:solidFill>
                <a:effectLst/>
                <a:uFillTx/>
                <a:latin typeface="Calibri"/>
                <a:ea typeface="DejaVu Sans"/>
              </a:rPr>
              <a:t>Con 6,50 EUR de ingreso neto medio por unidad, se necesitan ~25.000 ventas en el primer ano para cubrir los costes fijos de 161.560 EUR.</a:t>
            </a:r>
            <a:endParaRPr lang="mul" sz="1100" b="0" u="none" strike="noStrike">
              <a:solidFill>
                <a:srgbClr val="000000"/>
              </a:solidFill>
              <a:effectLst/>
              <a:uFillTx/>
              <a:latin typeface="Arial"/>
            </a:endParaRPr>
          </a:p>
        </p:txBody>
      </p:sp>
      <p:sp>
        <p:nvSpPr>
          <p:cNvPr id="263" name="Rectangle 22"/>
          <p:cNvSpPr/>
          <p:nvPr/>
        </p:nvSpPr>
        <p:spPr>
          <a:xfrm>
            <a:off x="320040" y="5605200"/>
            <a:ext cx="254160" cy="82116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64" name="Rectangle 23"/>
          <p:cNvSpPr/>
          <p:nvPr/>
        </p:nvSpPr>
        <p:spPr>
          <a:xfrm>
            <a:off x="640080" y="5605200"/>
            <a:ext cx="8227800" cy="821160"/>
          </a:xfrm>
          <a:prstGeom prst="rect">
            <a:avLst/>
          </a:prstGeom>
          <a:solidFill>
            <a:srgbClr val="142A45"/>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65" name="TextBox 24"/>
          <p:cNvSpPr/>
          <p:nvPr/>
        </p:nvSpPr>
        <p:spPr>
          <a:xfrm>
            <a:off x="777240" y="5650920"/>
            <a:ext cx="7953480" cy="288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300" b="1" u="none" strike="noStrike">
                <a:solidFill>
                  <a:srgbClr val="FFFFFF"/>
                </a:solidFill>
                <a:effectLst/>
                <a:uFillTx/>
                <a:latin typeface="Calibri"/>
                <a:ea typeface="DejaVu Sans"/>
              </a:rPr>
              <a:t>Respaldo institucional disponible</a:t>
            </a:r>
            <a:endParaRPr lang="mul" sz="1300" b="0" u="none" strike="noStrike">
              <a:solidFill>
                <a:srgbClr val="000000"/>
              </a:solidFill>
              <a:effectLst/>
              <a:uFillTx/>
              <a:latin typeface="Arial"/>
            </a:endParaRPr>
          </a:p>
        </p:txBody>
      </p:sp>
      <p:sp>
        <p:nvSpPr>
          <p:cNvPr id="266" name="TextBox 25"/>
          <p:cNvSpPr/>
          <p:nvPr/>
        </p:nvSpPr>
        <p:spPr>
          <a:xfrm>
            <a:off x="777240" y="6026040"/>
            <a:ext cx="795348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s-ES" sz="1100" b="0" u="none" strike="noStrike">
                <a:solidFill>
                  <a:srgbClr val="90A0B4"/>
                </a:solidFill>
                <a:effectLst/>
                <a:uFillTx/>
                <a:latin typeface="Calibri"/>
                <a:ea typeface="DejaVu Sans"/>
              </a:rPr>
              <a:t>RETECH Andalucía, lineas ICO Emprendedores y ayudas del Ministerio de Cultura dan cobertura financiera al proyecto.</a:t>
            </a:r>
            <a:endParaRPr lang="mul"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Rectangle 1"/>
          <p:cNvSpPr/>
          <p:nvPr/>
        </p:nvSpPr>
        <p:spPr>
          <a:xfrm>
            <a:off x="0" y="0"/>
            <a:ext cx="9142200" cy="6856200"/>
          </a:xfrm>
          <a:prstGeom prst="rect">
            <a:avLst/>
          </a:prstGeom>
          <a:solidFill>
            <a:srgbClr val="0D1B2A"/>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pic>
        <p:nvPicPr>
          <p:cNvPr id="268" name="Picture 2" descr="1000000000000337000002A09F65688E.png"/>
          <p:cNvPicPr/>
          <p:nvPr/>
        </p:nvPicPr>
        <p:blipFill>
          <a:blip r:embed="rId1"/>
          <a:stretch/>
        </p:blipFill>
        <p:spPr>
          <a:xfrm>
            <a:off x="0" y="0"/>
            <a:ext cx="8397360" cy="6856200"/>
          </a:xfrm>
          <a:prstGeom prst="rect">
            <a:avLst/>
          </a:prstGeom>
          <a:noFill/>
          <a:ln w="0">
            <a:noFill/>
          </a:ln>
        </p:spPr>
      </p:pic>
      <p:sp>
        <p:nvSpPr>
          <p:cNvPr id="269" name="Rectangle 3"/>
          <p:cNvSpPr/>
          <p:nvPr/>
        </p:nvSpPr>
        <p:spPr>
          <a:xfrm>
            <a:off x="0" y="0"/>
            <a:ext cx="9142200" cy="6856200"/>
          </a:xfrm>
          <a:prstGeom prst="rect">
            <a:avLst/>
          </a:prstGeom>
          <a:solidFill>
            <a:srgbClr val="0D1B2A">
              <a:alpha val="82000"/>
            </a:srgbClr>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70" name="Rectangle 4"/>
          <p:cNvSpPr/>
          <p:nvPr/>
        </p:nvSpPr>
        <p:spPr>
          <a:xfrm>
            <a:off x="0" y="0"/>
            <a:ext cx="9142200" cy="52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9720" rIns="90000" bIns="9720" anchor="ctr">
            <a:noAutofit/>
          </a:bodyPr>
          <a:p>
            <a:endParaRPr lang="es-ES" sz="1800" b="0" u="none" strike="noStrike">
              <a:solidFill>
                <a:schemeClr val="lt1"/>
              </a:solidFill>
              <a:effectLst/>
              <a:uFillTx/>
              <a:latin typeface="Calibri"/>
            </a:endParaRPr>
          </a:p>
        </p:txBody>
      </p:sp>
      <p:sp>
        <p:nvSpPr>
          <p:cNvPr id="271" name="Rectangle 5"/>
          <p:cNvSpPr/>
          <p:nvPr/>
        </p:nvSpPr>
        <p:spPr>
          <a:xfrm>
            <a:off x="0" y="6803280"/>
            <a:ext cx="9142200" cy="52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9720" rIns="90000" bIns="9720" anchor="ctr">
            <a:noAutofit/>
          </a:bodyPr>
          <a:p>
            <a:endParaRPr lang="es-ES" sz="1800" b="0" u="none" strike="noStrike">
              <a:solidFill>
                <a:schemeClr val="lt1"/>
              </a:solidFill>
              <a:effectLst/>
              <a:uFillTx/>
              <a:latin typeface="Calibri"/>
            </a:endParaRPr>
          </a:p>
        </p:txBody>
      </p:sp>
      <p:sp>
        <p:nvSpPr>
          <p:cNvPr id="272" name="TextBox 6"/>
          <p:cNvSpPr/>
          <p:nvPr/>
        </p:nvSpPr>
        <p:spPr>
          <a:xfrm>
            <a:off x="457200" y="1371600"/>
            <a:ext cx="8227800" cy="607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3400" b="1" u="none" strike="noStrike">
                <a:solidFill>
                  <a:srgbClr val="FFFFFF"/>
                </a:solidFill>
                <a:effectLst/>
                <a:uFillTx/>
                <a:latin typeface="Calibri"/>
                <a:ea typeface="DejaVu Sans"/>
              </a:rPr>
              <a:t>Gracias por vuestra atención</a:t>
            </a:r>
            <a:endParaRPr lang="mul" sz="3400" b="0" u="none" strike="noStrike">
              <a:solidFill>
                <a:srgbClr val="000000"/>
              </a:solidFill>
              <a:effectLst/>
              <a:uFillTx/>
              <a:latin typeface="Arial"/>
            </a:endParaRPr>
          </a:p>
        </p:txBody>
      </p:sp>
      <p:sp>
        <p:nvSpPr>
          <p:cNvPr id="273" name="Rectangle 7"/>
          <p:cNvSpPr/>
          <p:nvPr/>
        </p:nvSpPr>
        <p:spPr>
          <a:xfrm>
            <a:off x="1828800" y="2331720"/>
            <a:ext cx="54846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74" name="TextBox 8"/>
          <p:cNvSpPr/>
          <p:nvPr/>
        </p:nvSpPr>
        <p:spPr>
          <a:xfrm>
            <a:off x="457200" y="2514600"/>
            <a:ext cx="8227800" cy="3031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400" b="0" u="none" strike="noStrike">
                <a:solidFill>
                  <a:srgbClr val="E8EEF5"/>
                </a:solidFill>
                <a:effectLst/>
                <a:uFillTx/>
                <a:latin typeface="Calibri"/>
                <a:ea typeface="DejaVu Sans"/>
              </a:rPr>
              <a:t>Raftel Digital Studios S.L.  —  Proyecto de Fin de Curso DAM 2025-2026</a:t>
            </a:r>
            <a:endParaRPr lang="mul" sz="1400" b="0" u="none" strike="noStrike">
              <a:solidFill>
                <a:srgbClr val="000000"/>
              </a:solidFill>
              <a:effectLst/>
              <a:uFillTx/>
              <a:latin typeface="Arial"/>
            </a:endParaRPr>
          </a:p>
        </p:txBody>
      </p:sp>
      <p:sp>
        <p:nvSpPr>
          <p:cNvPr id="275" name="Rectangle 9"/>
          <p:cNvSpPr/>
          <p:nvPr/>
        </p:nvSpPr>
        <p:spPr>
          <a:xfrm>
            <a:off x="2286000" y="3154680"/>
            <a:ext cx="4570200" cy="866880"/>
          </a:xfrm>
          <a:prstGeom prst="rect">
            <a:avLst/>
          </a:prstGeom>
          <a:solidFill>
            <a:srgbClr val="0D47A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45000" rIns="90000" bIns="45000" anchor="ctr">
            <a:noAutofit/>
          </a:bodyPr>
          <a:p>
            <a:endParaRPr lang="es-ES" sz="1800" b="0" u="none" strike="noStrike">
              <a:solidFill>
                <a:schemeClr val="lt1"/>
              </a:solidFill>
              <a:effectLst/>
              <a:uFillTx/>
              <a:latin typeface="Calibri"/>
            </a:endParaRPr>
          </a:p>
        </p:txBody>
      </p:sp>
      <p:sp>
        <p:nvSpPr>
          <p:cNvPr id="276" name="TextBox 10"/>
          <p:cNvSpPr/>
          <p:nvPr/>
        </p:nvSpPr>
        <p:spPr>
          <a:xfrm>
            <a:off x="2286000" y="3246120"/>
            <a:ext cx="4570200" cy="54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3000" b="1" u="none" strike="noStrike">
                <a:solidFill>
                  <a:srgbClr val="C8A951"/>
                </a:solidFill>
                <a:effectLst/>
                <a:uFillTx/>
                <a:latin typeface="Calibri"/>
                <a:ea typeface="DejaVu Sans"/>
              </a:rPr>
              <a:t>Preguntas</a:t>
            </a:r>
            <a:endParaRPr lang="mul" sz="3000" b="0" u="none" strike="noStrike">
              <a:solidFill>
                <a:srgbClr val="000000"/>
              </a:solidFill>
              <a:effectLst/>
              <a:uFillTx/>
              <a:latin typeface="Arial"/>
            </a:endParaRPr>
          </a:p>
        </p:txBody>
      </p:sp>
      <p:sp>
        <p:nvSpPr>
          <p:cNvPr id="277" name="TextBox 11"/>
          <p:cNvSpPr/>
          <p:nvPr/>
        </p:nvSpPr>
        <p:spPr>
          <a:xfrm>
            <a:off x="457200" y="4297680"/>
            <a:ext cx="8227800" cy="288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300" b="0" u="none" strike="noStrike">
                <a:solidFill>
                  <a:srgbClr val="90A0B4"/>
                </a:solidFill>
                <a:effectLst/>
                <a:uFillTx/>
                <a:latin typeface="Calibri"/>
                <a:ea typeface="DejaVu Sans"/>
              </a:rPr>
              <a:t>Canal de desarrollo en YouTube:</a:t>
            </a:r>
            <a:endParaRPr lang="mul" sz="1300" b="0" u="none" strike="noStrike">
              <a:solidFill>
                <a:srgbClr val="000000"/>
              </a:solidFill>
              <a:effectLst/>
              <a:uFillTx/>
              <a:latin typeface="Arial"/>
            </a:endParaRPr>
          </a:p>
        </p:txBody>
      </p:sp>
      <p:sp>
        <p:nvSpPr>
          <p:cNvPr id="278" name="TextBox 12"/>
          <p:cNvSpPr/>
          <p:nvPr/>
        </p:nvSpPr>
        <p:spPr>
          <a:xfrm>
            <a:off x="457200" y="4663440"/>
            <a:ext cx="8227800" cy="3639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800" b="1" u="none" strike="noStrike">
                <a:solidFill>
                  <a:srgbClr val="C8A951"/>
                </a:solidFill>
                <a:effectLst/>
                <a:uFillTx/>
                <a:latin typeface="Calibri"/>
                <a:ea typeface="DejaVu Sans"/>
              </a:rPr>
              <a:t>@LogPoseProject</a:t>
            </a:r>
            <a:endParaRPr lang="mul" sz="1800" b="0" u="none" strike="noStrike">
              <a:solidFill>
                <a:srgbClr val="000000"/>
              </a:solidFill>
              <a:effectLst/>
              <a:uFillTx/>
              <a:latin typeface="Arial"/>
            </a:endParaRPr>
          </a:p>
        </p:txBody>
      </p:sp>
      <p:sp>
        <p:nvSpPr>
          <p:cNvPr id="279" name="TextBox 13"/>
          <p:cNvSpPr/>
          <p:nvPr/>
        </p:nvSpPr>
        <p:spPr>
          <a:xfrm>
            <a:off x="457200" y="5166360"/>
            <a:ext cx="8227800" cy="288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300" b="0" i="1" u="none" strike="noStrike">
                <a:solidFill>
                  <a:srgbClr val="E8EEF5"/>
                </a:solidFill>
                <a:effectLst/>
                <a:uFillTx/>
                <a:latin typeface="Calibri"/>
                <a:ea typeface="DejaVu Sans"/>
              </a:rPr>
              <a:t>youtube.com/@LogPoseProject</a:t>
            </a:r>
            <a:endParaRPr lang="mul" sz="1300" b="0" u="none" strike="noStrike">
              <a:solidFill>
                <a:srgbClr val="000000"/>
              </a:solidFill>
              <a:effectLst/>
              <a:uFillTx/>
              <a:latin typeface="Arial"/>
            </a:endParaRPr>
          </a:p>
        </p:txBody>
      </p:sp>
      <p:sp>
        <p:nvSpPr>
          <p:cNvPr id="280" name="Rectangle 14"/>
          <p:cNvSpPr/>
          <p:nvPr/>
        </p:nvSpPr>
        <p:spPr>
          <a:xfrm>
            <a:off x="1371600" y="5852160"/>
            <a:ext cx="6399000" cy="43920"/>
          </a:xfrm>
          <a:prstGeom prst="rect">
            <a:avLst/>
          </a:prstGeom>
          <a:solidFill>
            <a:srgbClr val="C8A951"/>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720" rIns="90000" bIns="720" anchor="ctr">
            <a:noAutofit/>
          </a:bodyPr>
          <a:p>
            <a:endParaRPr lang="es-ES" sz="1800" b="0" u="none" strike="noStrike">
              <a:solidFill>
                <a:schemeClr val="lt1"/>
              </a:solidFill>
              <a:effectLst/>
              <a:uFillTx/>
              <a:latin typeface="Calibri"/>
            </a:endParaRPr>
          </a:p>
        </p:txBody>
      </p:sp>
      <p:sp>
        <p:nvSpPr>
          <p:cNvPr id="281" name="TextBox 15"/>
          <p:cNvSpPr/>
          <p:nvPr/>
        </p:nvSpPr>
        <p:spPr>
          <a:xfrm>
            <a:off x="457200" y="6035040"/>
            <a:ext cx="8227800" cy="25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s-ES" sz="1100" b="0" u="none" strike="noStrike">
                <a:solidFill>
                  <a:srgbClr val="90A0B4"/>
                </a:solidFill>
                <a:effectLst/>
                <a:uFillTx/>
                <a:latin typeface="Calibri"/>
                <a:ea typeface="DejaVu Sans"/>
              </a:rPr>
              <a:t>Tutor: Jorge Chaves Quesada  </a:t>
            </a:r>
            <a:endParaRPr lang="mul"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88</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es-ES</dc:language>
  <cp:lastModifiedBy/>
  <dcterms:modified xsi:type="dcterms:W3CDTF">2026-05-28T14:47:56Z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